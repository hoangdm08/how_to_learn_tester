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25" r:id="rId5"/>
    <p:sldId id="346" r:id="rId6"/>
    <p:sldId id="326" r:id="rId7"/>
    <p:sldId id="261" r:id="rId8"/>
    <p:sldId id="263" r:id="rId9"/>
    <p:sldId id="341" r:id="rId10"/>
    <p:sldId id="342" r:id="rId11"/>
    <p:sldId id="343" r:id="rId12"/>
    <p:sldId id="344" r:id="rId13"/>
    <p:sldId id="345" r:id="rId14"/>
    <p:sldId id="34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240" autoAdjust="0"/>
  </p:normalViewPr>
  <p:slideViewPr>
    <p:cSldViewPr snapToGrid="0">
      <p:cViewPr varScale="1">
        <p:scale>
          <a:sx n="70" d="100"/>
          <a:sy n="70" d="100"/>
        </p:scale>
        <p:origin x="738" y="54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B82FF-5339-5456-4D30-0C2DA7907AAE}"/>
              </a:ext>
            </a:extLst>
          </p:cNvPr>
          <p:cNvSpPr/>
          <p:nvPr userDrawn="1"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</p:spPr>
        <p:txBody>
          <a:bodyPr/>
          <a:lstStyle>
            <a:lvl1pPr>
              <a:defRPr sz="32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</p:spPr>
        <p:txBody>
          <a:bodyPr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A4A755-28B6-5A01-94AB-C3CCC4368885}"/>
              </a:ext>
            </a:extLst>
          </p:cNvPr>
          <p:cNvCxnSpPr>
            <a:cxnSpLocks/>
          </p:cNvCxnSpPr>
          <p:nvPr userDrawn="1"/>
        </p:nvCxnSpPr>
        <p:spPr>
          <a:xfrm>
            <a:off x="5340096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481328"/>
            <a:ext cx="9144000" cy="389534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48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BCF04C-49F6-66E8-41A0-B3C371944EA1}"/>
              </a:ext>
            </a:extLst>
          </p:cNvPr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</p:spPr>
        <p:txBody>
          <a:bodyPr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171EC5-29BE-C106-1E9B-0CBDB598A131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10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377440"/>
            <a:ext cx="4645152" cy="34290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59BA83-0C6E-2A70-AED3-E386CABE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80160" y="2377440"/>
            <a:ext cx="9619488" cy="342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612406-06E6-DCE4-7F2F-D98836A802A6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88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9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anchor="ctr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4" r:id="rId3"/>
    <p:sldLayoutId id="2147483675" r:id="rId4"/>
    <p:sldLayoutId id="2147483664" r:id="rId5"/>
    <p:sldLayoutId id="2147483676" r:id="rId6"/>
    <p:sldLayoutId id="2147483677" r:id="rId7"/>
    <p:sldLayoutId id="2147483681" r:id="rId8"/>
    <p:sldLayoutId id="2147483682" r:id="rId9"/>
    <p:sldLayoutId id="2147483683" r:id="rId10"/>
    <p:sldLayoutId id="2147483680" r:id="rId11"/>
    <p:sldLayoutId id="2147483684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5E10E9-9AB7-0642-D4C4-DDFDAB7B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/>
          <a:lstStyle/>
          <a:p>
            <a:r>
              <a:rPr lang="en-US" dirty="0"/>
              <a:t>TEST CASE </a:t>
            </a:r>
            <a:br>
              <a:rPr lang="en-US" dirty="0"/>
            </a:br>
            <a:r>
              <a:rPr lang="en-US" dirty="0"/>
              <a:t>SUMMARY REPORT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1307D8B-2864-21B6-1CE1-B605F2928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TEAM 1</a:t>
            </a:r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C841A-1D10-A3C9-473B-A5C501B77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BF5FD-49E2-C36A-243E-247D3D1ED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5" y="1097280"/>
            <a:ext cx="6601695" cy="1018123"/>
          </a:xfrm>
          <a:noFill/>
        </p:spPr>
        <p:txBody>
          <a:bodyPr/>
          <a:lstStyle/>
          <a:p>
            <a:r>
              <a:rPr lang="en-US" dirty="0"/>
              <a:t>Summary Report answers simple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9548A-049A-12D9-2AA4-910F2BB86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5" y="2286000"/>
            <a:ext cx="6217920" cy="2743200"/>
          </a:xfrm>
          <a:noFill/>
        </p:spPr>
        <p:txBody>
          <a:bodyPr>
            <a:normAutofit/>
          </a:bodyPr>
          <a:lstStyle/>
          <a:p>
            <a:pPr lvl="0" fontAlgn="base">
              <a:spcAft>
                <a:spcPct val="0"/>
              </a:spcAft>
              <a:buSzTx/>
            </a:pPr>
            <a:r>
              <a:rPr lang="en-US" altLang="en-US" cap="none" dirty="0">
                <a:latin typeface="Daytona Condensed Light (Body)"/>
              </a:rPr>
              <a:t>How many test cases are there? </a:t>
            </a:r>
          </a:p>
          <a:p>
            <a:pPr fontAlgn="base">
              <a:spcAft>
                <a:spcPct val="0"/>
              </a:spcAft>
              <a:buSzTx/>
            </a:pPr>
            <a:r>
              <a:rPr lang="en-US" cap="none" dirty="0">
                <a:latin typeface="Daytona Condensed Light (Body)"/>
              </a:rPr>
              <a:t>How many test cases have been tested?</a:t>
            </a:r>
            <a:endParaRPr lang="en-US" altLang="en-US" cap="none" dirty="0">
              <a:latin typeface="Daytona Condensed Light (Body)"/>
            </a:endParaRPr>
          </a:p>
          <a:p>
            <a:pPr fontAlgn="base">
              <a:spcAft>
                <a:spcPct val="0"/>
              </a:spcAft>
              <a:buSzTx/>
            </a:pPr>
            <a:r>
              <a:rPr lang="en-US" cap="none" dirty="0">
                <a:latin typeface="Daytona Condensed Light (Body)"/>
              </a:rPr>
              <a:t>How many test cases passed or failed?</a:t>
            </a:r>
          </a:p>
          <a:p>
            <a:pPr fontAlgn="base">
              <a:spcAft>
                <a:spcPct val="0"/>
              </a:spcAft>
              <a:buSzTx/>
            </a:pPr>
            <a:r>
              <a:rPr lang="en-US" cap="none" dirty="0">
                <a:latin typeface="Daytona Condensed Light (Body)"/>
              </a:rPr>
              <a:t>How many bugs were found, and how serious are they?</a:t>
            </a:r>
            <a:endParaRPr lang="en-US" altLang="en-US" cap="none" dirty="0">
              <a:latin typeface="Daytona Condensed Light (Body)"/>
            </a:endParaRPr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1B415063-DEDB-F2C7-B352-CBBA1B1B2F9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158" b="115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380655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B422-1287-FCEB-63CE-599FDC84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815840" cy="2286000"/>
          </a:xfrm>
        </p:spPr>
        <p:txBody>
          <a:bodyPr/>
          <a:lstStyle/>
          <a:p>
            <a:r>
              <a:rPr lang="en-US" dirty="0"/>
              <a:t>summary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38CD2-9585-7E51-5359-D52935A77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1942076"/>
            <a:ext cx="5680198" cy="365350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cap="none" dirty="0">
                <a:latin typeface="Daytona Condensed Light (Body)"/>
              </a:rPr>
              <a:t>General Information</a:t>
            </a:r>
          </a:p>
          <a:p>
            <a:r>
              <a:rPr lang="en-US" cap="none" dirty="0">
                <a:latin typeface="Daytona Condensed Light (Body)"/>
              </a:rPr>
              <a:t>Total Number of Test Cases</a:t>
            </a:r>
          </a:p>
          <a:p>
            <a:r>
              <a:rPr lang="en-US" cap="none" dirty="0">
                <a:latin typeface="Daytona Condensed Light (Body)"/>
              </a:rPr>
              <a:t>Test Execution Results</a:t>
            </a:r>
          </a:p>
          <a:p>
            <a:r>
              <a:rPr lang="en-US" cap="none" dirty="0">
                <a:latin typeface="Daytona Condensed Light (Body)"/>
              </a:rPr>
              <a:t>Execution and Completion Rate</a:t>
            </a:r>
          </a:p>
          <a:p>
            <a:r>
              <a:rPr lang="en-US" cap="none" dirty="0">
                <a:latin typeface="Daytona Condensed Light (Body)"/>
              </a:rPr>
              <a:t>Defect Summary</a:t>
            </a:r>
          </a:p>
          <a:p>
            <a:r>
              <a:rPr lang="en-US" cap="none" dirty="0">
                <a:latin typeface="Daytona Condensed Light (Body)"/>
              </a:rPr>
              <a:t>Summary by Module or Function</a:t>
            </a:r>
          </a:p>
          <a:p>
            <a:r>
              <a:rPr lang="en-US" cap="none" dirty="0">
                <a:latin typeface="Daytona Condensed Light (Body)"/>
              </a:rPr>
              <a:t>Overall Comments and Conclusion</a:t>
            </a:r>
          </a:p>
        </p:txBody>
      </p:sp>
      <p:pic>
        <p:nvPicPr>
          <p:cNvPr id="8" name="Picture Placeholder 7" descr="Pipette diffusing dyes in flasks">
            <a:extLst>
              <a:ext uri="{FF2B5EF4-FFF2-40B4-BE49-F238E27FC236}">
                <a16:creationId xmlns:a16="http://schemas.microsoft.com/office/drawing/2014/main" id="{9DA934D8-2609-4227-78DF-CF8F07A2F9C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" b="97"/>
          <a:stretch/>
        </p:blipFill>
        <p:spPr>
          <a:xfrm>
            <a:off x="6732572" y="1435608"/>
            <a:ext cx="4852876" cy="3272870"/>
          </a:xfrm>
        </p:spPr>
      </p:pic>
    </p:spTree>
    <p:extLst>
      <p:ext uri="{BB962C8B-B14F-4D97-AF65-F5344CB8AC3E}">
        <p14:creationId xmlns:p14="http://schemas.microsoft.com/office/powerpoint/2010/main" val="2910866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  <a:noFill/>
        </p:spPr>
        <p:txBody>
          <a:bodyPr/>
          <a:lstStyle/>
          <a:p>
            <a:r>
              <a:rPr lang="en-US" dirty="0"/>
              <a:t>General Information</a:t>
            </a:r>
          </a:p>
        </p:txBody>
      </p:sp>
      <p:pic>
        <p:nvPicPr>
          <p:cNvPr id="16" name="Picture Placeholder 15" descr="Pipette over three glass jars">
            <a:extLst>
              <a:ext uri="{FF2B5EF4-FFF2-40B4-BE49-F238E27FC236}">
                <a16:creationId xmlns:a16="http://schemas.microsoft.com/office/drawing/2014/main" id="{363B2CE7-DE69-D368-9719-08D0C83ABC0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/>
          <a:stretch/>
        </p:blipFill>
        <p:spPr>
          <a:xfrm>
            <a:off x="8991600" y="1873155"/>
            <a:ext cx="3200400" cy="32004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2330355"/>
            <a:ext cx="6217920" cy="2743200"/>
          </a:xfrm>
          <a:noFill/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cap="none" dirty="0">
                <a:latin typeface="Daytona Condensed Light (Body)"/>
              </a:rPr>
              <a:t>Project name, module, or feature under testing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cap="none" dirty="0">
                <a:latin typeface="Daytona Condensed Light (Body)"/>
              </a:rPr>
              <a:t>Tester in charge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cap="none" dirty="0">
                <a:latin typeface="Daytona Condensed Light (Body)"/>
              </a:rPr>
              <a:t>Test date, build version, and test environment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cap="none" dirty="0">
                <a:latin typeface="Daytona Condensed Light (Body)"/>
              </a:rPr>
              <a:t>Test scope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AC0AB5-00A4-971C-510E-7CA65D35B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50977"/>
            <a:ext cx="3567088" cy="3178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  <a:noFill/>
        </p:spPr>
        <p:txBody>
          <a:bodyPr/>
          <a:lstStyle/>
          <a:p>
            <a:r>
              <a:rPr lang="en-US" dirty="0"/>
              <a:t>Total Number of Test Cases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15324058-5779-5C1F-C0BD-4A06425B042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1111" r="1111"/>
          <a:stretch>
            <a:fillRect/>
          </a:stretch>
        </p:blipFill>
        <p:spPr/>
      </p:pic>
      <p:sp>
        <p:nvSpPr>
          <p:cNvPr id="14" name="Rectangle 2">
            <a:extLst>
              <a:ext uri="{FF2B5EF4-FFF2-40B4-BE49-F238E27FC236}">
                <a16:creationId xmlns:a16="http://schemas.microsoft.com/office/drawing/2014/main" id="{176E4DFB-4F49-AE18-87AC-6DE4081B18E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768935" y="2583063"/>
            <a:ext cx="4891852" cy="169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ytona Condensed Light (Body)"/>
              </a:rPr>
              <a:t>Total number of test cases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ytona Condensed Light (Body)"/>
              </a:rPr>
              <a:t>Number of executed test cases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ytona Condensed Light (Body)"/>
              </a:rPr>
              <a:t>Number of unexecuted test cases</a:t>
            </a:r>
          </a:p>
        </p:txBody>
      </p:sp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27319-A01C-7048-462B-34CE77D64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0A69C-611A-28E8-0873-DBBAB75F2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  <a:noFill/>
        </p:spPr>
        <p:txBody>
          <a:bodyPr/>
          <a:lstStyle/>
          <a:p>
            <a:r>
              <a:rPr lang="en-US" dirty="0"/>
              <a:t>Test Execution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33D2E-5E15-8405-6F5C-0B6EDE0DE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787" y="1828800"/>
            <a:ext cx="6956537" cy="2743200"/>
          </a:xfrm>
          <a:noFill/>
        </p:spPr>
        <p:txBody>
          <a:bodyPr>
            <a:noAutofit/>
          </a:bodyPr>
          <a:lstStyle/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latin typeface="Daytona Condensed Light (Body)"/>
              </a:rPr>
              <a:t>Number of passed test cases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latin typeface="Daytona Condensed Light (Body)"/>
              </a:rPr>
              <a:t>Number of failed test cases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latin typeface="Daytona Condensed Light (Body)"/>
              </a:rPr>
              <a:t>Number of blocked test cases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latin typeface="Daytona Condensed Light (Body)"/>
              </a:rPr>
              <a:t>Number of not run / not executed test cases</a:t>
            </a:r>
            <a:endParaRPr lang="en-US" altLang="en-US" sz="2400" cap="none" dirty="0">
              <a:latin typeface="Daytona Condensed Light (Body)"/>
            </a:endParaRP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886CF74D-B707-A1EB-1DEF-C1CE8D215B6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1682" r="1168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74187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06F12-E48D-918C-A669-6FD553800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DB878-1D4A-BA0D-11C5-F79E097CC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  <a:noFill/>
        </p:spPr>
        <p:txBody>
          <a:bodyPr/>
          <a:lstStyle/>
          <a:p>
            <a:r>
              <a:rPr lang="en-US" dirty="0"/>
              <a:t>Execution and Completion Rate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9E46EC6D-5B9A-C149-C4EC-93264F6AB1E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096000" y="2075232"/>
            <a:ext cx="6198300" cy="270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/>
              <a:t>Test execution progress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200" dirty="0"/>
              <a:t>	= (Executed test cases / Total test cases) × 100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2200" dirty="0"/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/>
              <a:t>Pass rate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400" dirty="0"/>
              <a:t>	</a:t>
            </a:r>
            <a:r>
              <a:rPr lang="en-US" sz="2200" dirty="0"/>
              <a:t>= (Passed test cases / Executed test cases) × 100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325AC2E-3042-4ED3-40DD-C5F4D2FDF74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305" r="30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143367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B7948-B714-A442-E735-B236CBE0D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B37F5-FCD8-5A0C-21BE-41732EFF6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  <a:noFill/>
        </p:spPr>
        <p:txBody>
          <a:bodyPr/>
          <a:lstStyle/>
          <a:p>
            <a:r>
              <a:rPr lang="en-US" dirty="0"/>
              <a:t>Defect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796B2-A968-868E-B9C7-05E713F12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787" y="1828800"/>
            <a:ext cx="6956537" cy="4490113"/>
          </a:xfrm>
          <a:noFill/>
        </p:spPr>
        <p:txBody>
          <a:bodyPr>
            <a:noAutofit/>
          </a:bodyPr>
          <a:lstStyle/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/>
              <a:t>Total number of logged defects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/>
              <a:t>Number of defects by severity or priority</a:t>
            </a:r>
            <a:endParaRPr lang="en-US" altLang="en-US" sz="2400" dirty="0"/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200" dirty="0"/>
              <a:t>Critical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200" dirty="0"/>
              <a:t>High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200" dirty="0"/>
              <a:t>Medium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200" dirty="0"/>
              <a:t>Low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/>
              <a:t>Number of defects by status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200" dirty="0"/>
              <a:t>Open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200" dirty="0" err="1"/>
              <a:t>Fiexd</a:t>
            </a:r>
            <a:endParaRPr lang="en-US" sz="2200" dirty="0"/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200" dirty="0"/>
              <a:t>Retest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200" dirty="0"/>
              <a:t>Close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2200" cap="none" dirty="0">
              <a:latin typeface="Daytona Condensed Light (Body)"/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9ABDCF41-D1D5-5FED-4636-4D4E5CDC6B9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4749" r="1474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974739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11428-B688-CB4B-8451-0818EC970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4258E-317C-9EA4-0303-07C045674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366300" cy="1828800"/>
          </a:xfrm>
          <a:noFill/>
        </p:spPr>
        <p:txBody>
          <a:bodyPr/>
          <a:lstStyle/>
          <a:p>
            <a:r>
              <a:rPr lang="en-US" dirty="0"/>
              <a:t>Summary by Module or Function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6304DB80-C841-AC69-9134-A4D8980716FD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297680" y="3362982"/>
            <a:ext cx="7503936" cy="1137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b="1" cap="none" dirty="0">
                <a:latin typeface="Daytona Condensed Light (Body)"/>
              </a:rPr>
              <a:t>Module A</a:t>
            </a:r>
            <a:r>
              <a:rPr lang="en-US" altLang="en-US" cap="none" dirty="0">
                <a:latin typeface="Daytona Condensed Light (Body)"/>
              </a:rPr>
              <a:t>: number of test cases, number of passed/failed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b="1" cap="none" dirty="0">
                <a:latin typeface="Daytona Condensed Light (Body)"/>
              </a:rPr>
              <a:t>Module B</a:t>
            </a:r>
            <a:r>
              <a:rPr lang="en-US" altLang="en-US" cap="none" dirty="0">
                <a:latin typeface="Daytona Condensed Light (Body)"/>
              </a:rPr>
              <a:t>: number of test cases, number of passed/failed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5DAAFFA9-8D69-BD09-5695-6ECF4D08182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21860" r="2186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785222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AF0C4-0EE0-BD24-6936-8AA7E6148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938EB-FD61-5316-A367-D758144E0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  <a:noFill/>
        </p:spPr>
        <p:txBody>
          <a:bodyPr/>
          <a:lstStyle/>
          <a:p>
            <a:r>
              <a:rPr lang="en-US" dirty="0"/>
              <a:t>Overall Comments and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29853-32A0-2E04-5A4E-A600E9E1A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787" y="2156346"/>
            <a:ext cx="6956537" cy="2743200"/>
          </a:xfrm>
          <a:noFill/>
        </p:spPr>
        <p:txBody>
          <a:bodyPr>
            <a:noAutofit/>
          </a:bodyPr>
          <a:lstStyle/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/>
              <a:t>Which functionalities are stable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/>
              <a:t>Which functionalities still have many defects</a:t>
            </a:r>
            <a:endParaRPr lang="en-US" altLang="en-US" sz="2400" dirty="0">
              <a:latin typeface="Daytona Condensed Light (Body)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/>
              <a:t>Whether the system is ready for release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/>
              <a:t>Remaining risks</a:t>
            </a:r>
            <a:endParaRPr lang="en-US" altLang="en-US" sz="2400" cap="none" dirty="0">
              <a:latin typeface="Daytona Condensed Light (Body)"/>
            </a:endParaRP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CA3A6E71-4631-2268-A298-497BCBC600C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70" r="27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911967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E39FA-84F2-3624-49D6-32B9E036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noFill/>
        </p:spPr>
        <p:txBody>
          <a:bodyPr bIns="0" anchor="ctr" anchorCtr="0"/>
          <a:lstStyle/>
          <a:p>
            <a:r>
              <a:rPr lang="en-US" dirty="0"/>
              <a:t>Thank you</a:t>
            </a:r>
          </a:p>
        </p:txBody>
      </p:sp>
      <p:pic>
        <p:nvPicPr>
          <p:cNvPr id="7" name="Picture Placeholder 25" descr="Bacteria cultured in a petri dish for a laboratory or a scientific investigation">
            <a:extLst>
              <a:ext uri="{FF2B5EF4-FFF2-40B4-BE49-F238E27FC236}">
                <a16:creationId xmlns:a16="http://schemas.microsoft.com/office/drawing/2014/main" id="{F46DA087-2662-0725-53F9-CF835D1DC8F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" r="74"/>
          <a:stretch/>
        </p:blipFill>
        <p:spPr>
          <a:xfrm>
            <a:off x="4953000" y="548640"/>
            <a:ext cx="2286000" cy="22860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04BCD3-171F-C06E-AC4E-108832525D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 anchorCtr="0"/>
          <a:lstStyle/>
          <a:p>
            <a:r>
              <a:rPr lang="en-US" dirty="0"/>
              <a:t>TEAM 1</a:t>
            </a:r>
          </a:p>
        </p:txBody>
      </p:sp>
    </p:spTree>
    <p:extLst>
      <p:ext uri="{BB962C8B-B14F-4D97-AF65-F5344CB8AC3E}">
        <p14:creationId xmlns:p14="http://schemas.microsoft.com/office/powerpoint/2010/main" val="48752273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 discovery_V1_win32_EF_v4.potx" id="{C76E1CB0-558D-4FB9-AA8B-DAB0BFDB970A}" vid="{87D4F3E9-C3BB-413B-A87E-0B7BB674A5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881D8D6-8849-400B-8BC9-21D401C7DD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{7E41FA56-176D-4C66-8EB5-902E00782D24}TF51de1e5f-e0e8-4dd0-99f3-5b7584f7abdc7d30e886_win32-78d4aef5ad8e</Template>
  <TotalTime>829</TotalTime>
  <Words>266</Words>
  <Application>Microsoft Office PowerPoint</Application>
  <PresentationFormat>Widescreen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Courier New</vt:lpstr>
      <vt:lpstr>Daytona Condensed Light</vt:lpstr>
      <vt:lpstr>Daytona Condensed Light (Body)</vt:lpstr>
      <vt:lpstr>Posterama</vt:lpstr>
      <vt:lpstr>Custom</vt:lpstr>
      <vt:lpstr>TEST CASE  SUMMARY REPORT</vt:lpstr>
      <vt:lpstr>Summary Report answers simple questions</vt:lpstr>
      <vt:lpstr>summary report</vt:lpstr>
      <vt:lpstr>General Information</vt:lpstr>
      <vt:lpstr>Total Number of Test Cases</vt:lpstr>
      <vt:lpstr>Test Execution Results</vt:lpstr>
      <vt:lpstr>Execution and Completion Rate</vt:lpstr>
      <vt:lpstr>Defect Summary</vt:lpstr>
      <vt:lpstr>Summary by Module or Function</vt:lpstr>
      <vt:lpstr>Overall Comments and 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minh hoang</dc:creator>
  <cp:lastModifiedBy>minh hoang</cp:lastModifiedBy>
  <cp:revision>32</cp:revision>
  <dcterms:created xsi:type="dcterms:W3CDTF">2026-03-18T13:54:24Z</dcterms:created>
  <dcterms:modified xsi:type="dcterms:W3CDTF">2026-03-19T03:43:43Z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