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10287000" cx="18288000"/>
  <p:notesSz cx="6858000" cy="9144000"/>
  <p:embeddedFontLst>
    <p:embeddedFont>
      <p:font typeface="Poppins"/>
      <p:regular r:id="rId18"/>
      <p:bold r:id="rId19"/>
      <p:italic r:id="rId20"/>
      <p:boldItalic r:id="rId21"/>
    </p:embeddedFont>
    <p:embeddedFont>
      <p:font typeface="Oswald"/>
      <p:bold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49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23" roundtripDataSignature="AMtx7mgkFe7JQlGvYxH36fI9Rfe2VR4Zq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49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-italic.fntdata"/><Relationship Id="rId11" Type="http://schemas.openxmlformats.org/officeDocument/2006/relationships/slide" Target="slides/slide6.xml"/><Relationship Id="rId22" Type="http://schemas.openxmlformats.org/officeDocument/2006/relationships/font" Target="fonts/Oswald-bold.fntdata"/><Relationship Id="rId10" Type="http://schemas.openxmlformats.org/officeDocument/2006/relationships/slide" Target="slides/slide5.xml"/><Relationship Id="rId21" Type="http://schemas.openxmlformats.org/officeDocument/2006/relationships/font" Target="fonts/Poppins-bold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customschemas.google.com/relationships/presentationmetadata" Target="meta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Poppins-bold.fntdata"/><Relationship Id="rId6" Type="http://schemas.openxmlformats.org/officeDocument/2006/relationships/slide" Target="slides/slide1.xml"/><Relationship Id="rId18" Type="http://schemas.openxmlformats.org/officeDocument/2006/relationships/font" Target="fonts/Poppins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6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1.png"/><Relationship Id="rId6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Relationship Id="rId4" Type="http://schemas.openxmlformats.org/officeDocument/2006/relationships/image" Target="../media/image10.png"/><Relationship Id="rId5" Type="http://schemas.openxmlformats.org/officeDocument/2006/relationships/image" Target="../media/image1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Relationship Id="rId4" Type="http://schemas.openxmlformats.org/officeDocument/2006/relationships/image" Target="../media/image1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1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Relationship Id="rId4" Type="http://schemas.openxmlformats.org/officeDocument/2006/relationships/image" Target="../media/image1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5.png"/><Relationship Id="rId4" Type="http://schemas.openxmlformats.org/officeDocument/2006/relationships/image" Target="../media/image1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1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6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5F5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-2080009" y="-1519728"/>
            <a:ext cx="6217418" cy="4114800"/>
          </a:xfrm>
          <a:custGeom>
            <a:rect b="b" l="l" r="r" t="t"/>
            <a:pathLst>
              <a:path extrusionOk="0" h="4114800" w="6217418">
                <a:moveTo>
                  <a:pt x="0" y="0"/>
                </a:moveTo>
                <a:lnTo>
                  <a:pt x="6217418" y="0"/>
                </a:lnTo>
                <a:lnTo>
                  <a:pt x="621741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5" name="Google Shape;85;p1"/>
          <p:cNvSpPr/>
          <p:nvPr/>
        </p:nvSpPr>
        <p:spPr>
          <a:xfrm>
            <a:off x="14695454" y="6826250"/>
            <a:ext cx="6217418" cy="4114800"/>
          </a:xfrm>
          <a:custGeom>
            <a:rect b="b" l="l" r="r" t="t"/>
            <a:pathLst>
              <a:path extrusionOk="0" h="4114800" w="6217418">
                <a:moveTo>
                  <a:pt x="0" y="0"/>
                </a:moveTo>
                <a:lnTo>
                  <a:pt x="6217418" y="0"/>
                </a:lnTo>
                <a:lnTo>
                  <a:pt x="621741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cxnSp>
        <p:nvCxnSpPr>
          <p:cNvPr id="86" name="Google Shape;86;p1"/>
          <p:cNvCxnSpPr/>
          <p:nvPr/>
        </p:nvCxnSpPr>
        <p:spPr>
          <a:xfrm>
            <a:off x="1322033" y="7299371"/>
            <a:ext cx="6492240" cy="0"/>
          </a:xfrm>
          <a:prstGeom prst="straightConnector1">
            <a:avLst/>
          </a:prstGeom>
          <a:noFill/>
          <a:ln cap="flat" cmpd="sng" w="666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" name="Google Shape;87;p1"/>
          <p:cNvSpPr/>
          <p:nvPr/>
        </p:nvSpPr>
        <p:spPr>
          <a:xfrm>
            <a:off x="8288596" y="1257275"/>
            <a:ext cx="8564342" cy="3864659"/>
          </a:xfrm>
          <a:custGeom>
            <a:rect b="b" l="l" r="r" t="t"/>
            <a:pathLst>
              <a:path extrusionOk="0" h="3864659" w="8564342">
                <a:moveTo>
                  <a:pt x="0" y="0"/>
                </a:moveTo>
                <a:lnTo>
                  <a:pt x="8564341" y="0"/>
                </a:lnTo>
                <a:lnTo>
                  <a:pt x="8564341" y="3864660"/>
                </a:lnTo>
                <a:lnTo>
                  <a:pt x="0" y="386466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8" name="Google Shape;88;p1"/>
          <p:cNvSpPr txBox="1"/>
          <p:nvPr/>
        </p:nvSpPr>
        <p:spPr>
          <a:xfrm>
            <a:off x="1295363" y="4588147"/>
            <a:ext cx="6790245" cy="24879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Black-box techniques</a:t>
            </a:r>
            <a:endParaRPr b="1" i="0" sz="10000" u="none" cap="none" strike="noStrike">
              <a:solidFill>
                <a:srgbClr val="000000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89" name="Google Shape;89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906000" y="5448300"/>
            <a:ext cx="6248400" cy="27622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0" name="Google Shape;90;p1"/>
          <p:cNvGrpSpPr/>
          <p:nvPr/>
        </p:nvGrpSpPr>
        <p:grpSpPr>
          <a:xfrm>
            <a:off x="15999460" y="299720"/>
            <a:ext cx="1865630" cy="502078"/>
            <a:chOff x="0" y="0"/>
            <a:chExt cx="2487507" cy="669437"/>
          </a:xfrm>
        </p:grpSpPr>
        <p:sp>
          <p:nvSpPr>
            <p:cNvPr id="91" name="Google Shape;91;p1"/>
            <p:cNvSpPr/>
            <p:nvPr/>
          </p:nvSpPr>
          <p:spPr>
            <a:xfrm>
              <a:off x="0" y="0"/>
              <a:ext cx="669437" cy="669437"/>
            </a:xfrm>
            <a:custGeom>
              <a:rect b="b" l="l" r="r" t="t"/>
              <a:pathLst>
                <a:path extrusionOk="0" h="669437" w="669437">
                  <a:moveTo>
                    <a:pt x="0" y="0"/>
                  </a:moveTo>
                  <a:lnTo>
                    <a:pt x="669437" y="0"/>
                  </a:lnTo>
                  <a:lnTo>
                    <a:pt x="669437" y="669437"/>
                  </a:lnTo>
                  <a:lnTo>
                    <a:pt x="0" y="66943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92" name="Google Shape;92;p1"/>
            <p:cNvSpPr txBox="1"/>
            <p:nvPr/>
          </p:nvSpPr>
          <p:spPr>
            <a:xfrm>
              <a:off x="714587" y="18627"/>
              <a:ext cx="1772920" cy="59774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2500" u="none" cap="none" strike="noStrike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Team 1</a:t>
              </a:r>
              <a:endParaRPr b="0" i="0" sz="25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5F5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/>
          <p:nvPr/>
        </p:nvSpPr>
        <p:spPr>
          <a:xfrm flipH="1">
            <a:off x="13597698" y="-1769921"/>
            <a:ext cx="6217418" cy="4114800"/>
          </a:xfrm>
          <a:custGeom>
            <a:rect b="b" l="l" r="r" t="t"/>
            <a:pathLst>
              <a:path extrusionOk="0" h="4114800" w="6217418">
                <a:moveTo>
                  <a:pt x="6217418" y="0"/>
                </a:moveTo>
                <a:lnTo>
                  <a:pt x="0" y="0"/>
                </a:lnTo>
                <a:lnTo>
                  <a:pt x="0" y="4114800"/>
                </a:lnTo>
                <a:lnTo>
                  <a:pt x="6217418" y="4114800"/>
                </a:lnTo>
                <a:lnTo>
                  <a:pt x="6217418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8" name="Google Shape;98;p2"/>
          <p:cNvSpPr/>
          <p:nvPr/>
        </p:nvSpPr>
        <p:spPr>
          <a:xfrm flipH="1">
            <a:off x="-3108709" y="7013575"/>
            <a:ext cx="6217418" cy="4114800"/>
          </a:xfrm>
          <a:custGeom>
            <a:rect b="b" l="l" r="r" t="t"/>
            <a:pathLst>
              <a:path extrusionOk="0" h="4114800" w="6217418">
                <a:moveTo>
                  <a:pt x="6217418" y="0"/>
                </a:moveTo>
                <a:lnTo>
                  <a:pt x="0" y="0"/>
                </a:lnTo>
                <a:lnTo>
                  <a:pt x="0" y="4114800"/>
                </a:lnTo>
                <a:lnTo>
                  <a:pt x="6217418" y="4114800"/>
                </a:lnTo>
                <a:lnTo>
                  <a:pt x="6217418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99" name="Google Shape;99;p2"/>
          <p:cNvGrpSpPr/>
          <p:nvPr/>
        </p:nvGrpSpPr>
        <p:grpSpPr>
          <a:xfrm>
            <a:off x="1028700" y="1028700"/>
            <a:ext cx="1865630" cy="502078"/>
            <a:chOff x="0" y="0"/>
            <a:chExt cx="2487507" cy="669437"/>
          </a:xfrm>
        </p:grpSpPr>
        <p:sp>
          <p:nvSpPr>
            <p:cNvPr id="100" name="Google Shape;100;p2"/>
            <p:cNvSpPr/>
            <p:nvPr/>
          </p:nvSpPr>
          <p:spPr>
            <a:xfrm>
              <a:off x="0" y="0"/>
              <a:ext cx="669437" cy="669437"/>
            </a:xfrm>
            <a:custGeom>
              <a:rect b="b" l="l" r="r" t="t"/>
              <a:pathLst>
                <a:path extrusionOk="0" h="669437" w="669437">
                  <a:moveTo>
                    <a:pt x="0" y="0"/>
                  </a:moveTo>
                  <a:lnTo>
                    <a:pt x="669437" y="0"/>
                  </a:lnTo>
                  <a:lnTo>
                    <a:pt x="669437" y="669437"/>
                  </a:lnTo>
                  <a:lnTo>
                    <a:pt x="0" y="66943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101" name="Google Shape;101;p2"/>
            <p:cNvSpPr txBox="1"/>
            <p:nvPr/>
          </p:nvSpPr>
          <p:spPr>
            <a:xfrm>
              <a:off x="714587" y="18627"/>
              <a:ext cx="1772920" cy="59774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2500" u="none" cap="none" strike="noStrike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Team 1</a:t>
              </a:r>
              <a:endParaRPr b="0" i="0" sz="25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102" name="Google Shape;102;p2"/>
          <p:cNvSpPr txBox="1"/>
          <p:nvPr/>
        </p:nvSpPr>
        <p:spPr>
          <a:xfrm>
            <a:off x="1564640" y="4838700"/>
            <a:ext cx="10546715" cy="43065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457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Char char="•"/>
            </a:pPr>
            <a:r>
              <a:rPr b="0" i="0" lang="en-US" sz="30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Black-box testing is the process of testing an application's functionality without considering its internal structure, design, or code.</a:t>
            </a:r>
            <a:endParaRPr b="0" i="0" sz="3000" u="none" cap="none" strike="noStrik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457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Char char="•"/>
            </a:pPr>
            <a:r>
              <a:rPr b="0" i="0" lang="en-US" sz="30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 main purpose is to verify whether the software behaves according to the specifications and meets the customer's expectations.</a:t>
            </a:r>
            <a:endParaRPr b="0" i="0" sz="3000" u="none" cap="none" strike="noStrik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3" name="Google Shape;103;p2"/>
          <p:cNvSpPr txBox="1"/>
          <p:nvPr/>
        </p:nvSpPr>
        <p:spPr>
          <a:xfrm>
            <a:off x="1564640" y="2914650"/>
            <a:ext cx="9704070" cy="9950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9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What is the Black-box testing?</a:t>
            </a:r>
            <a:endParaRPr b="1" i="0" sz="6000" u="none" cap="none" strike="noStrike">
              <a:solidFill>
                <a:srgbClr val="000000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5F5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"/>
          <p:cNvSpPr/>
          <p:nvPr/>
        </p:nvSpPr>
        <p:spPr>
          <a:xfrm>
            <a:off x="-2080009" y="-1519728"/>
            <a:ext cx="6217418" cy="4114800"/>
          </a:xfrm>
          <a:custGeom>
            <a:rect b="b" l="l" r="r" t="t"/>
            <a:pathLst>
              <a:path extrusionOk="0" h="4114800" w="6217418">
                <a:moveTo>
                  <a:pt x="0" y="0"/>
                </a:moveTo>
                <a:lnTo>
                  <a:pt x="6217418" y="0"/>
                </a:lnTo>
                <a:lnTo>
                  <a:pt x="621741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9" name="Google Shape;109;p3"/>
          <p:cNvSpPr/>
          <p:nvPr/>
        </p:nvSpPr>
        <p:spPr>
          <a:xfrm>
            <a:off x="14695454" y="6826250"/>
            <a:ext cx="6217418" cy="4114800"/>
          </a:xfrm>
          <a:custGeom>
            <a:rect b="b" l="l" r="r" t="t"/>
            <a:pathLst>
              <a:path extrusionOk="0" h="4114800" w="6217418">
                <a:moveTo>
                  <a:pt x="0" y="0"/>
                </a:moveTo>
                <a:lnTo>
                  <a:pt x="6217418" y="0"/>
                </a:lnTo>
                <a:lnTo>
                  <a:pt x="621741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10" name="Google Shape;110;p3"/>
          <p:cNvGrpSpPr/>
          <p:nvPr/>
        </p:nvGrpSpPr>
        <p:grpSpPr>
          <a:xfrm>
            <a:off x="15999460" y="299720"/>
            <a:ext cx="1865690" cy="502078"/>
            <a:chOff x="0" y="0"/>
            <a:chExt cx="2487587" cy="669437"/>
          </a:xfrm>
        </p:grpSpPr>
        <p:sp>
          <p:nvSpPr>
            <p:cNvPr id="111" name="Google Shape;111;p3"/>
            <p:cNvSpPr/>
            <p:nvPr/>
          </p:nvSpPr>
          <p:spPr>
            <a:xfrm>
              <a:off x="0" y="0"/>
              <a:ext cx="669437" cy="669437"/>
            </a:xfrm>
            <a:custGeom>
              <a:rect b="b" l="l" r="r" t="t"/>
              <a:pathLst>
                <a:path extrusionOk="0" h="669437" w="669437">
                  <a:moveTo>
                    <a:pt x="0" y="0"/>
                  </a:moveTo>
                  <a:lnTo>
                    <a:pt x="669437" y="0"/>
                  </a:lnTo>
                  <a:lnTo>
                    <a:pt x="669437" y="669437"/>
                  </a:lnTo>
                  <a:lnTo>
                    <a:pt x="0" y="66943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112" name="Google Shape;112;p3"/>
            <p:cNvSpPr txBox="1"/>
            <p:nvPr/>
          </p:nvSpPr>
          <p:spPr>
            <a:xfrm>
              <a:off x="714587" y="18627"/>
              <a:ext cx="1773000" cy="59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2500" u="none" cap="none" strike="noStrike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Team 1</a:t>
              </a:r>
              <a:endParaRPr b="0" i="0" sz="25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113" name="Google Shape;113;p3"/>
          <p:cNvSpPr txBox="1"/>
          <p:nvPr/>
        </p:nvSpPr>
        <p:spPr>
          <a:xfrm>
            <a:off x="2438400" y="4076700"/>
            <a:ext cx="5831840" cy="30651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457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Char char="•"/>
            </a:pPr>
            <a:r>
              <a:rPr b="0" i="0" lang="en-US" sz="30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Equivalence partitioning</a:t>
            </a:r>
            <a:endParaRPr b="0" i="0" sz="3000" u="none" cap="none" strike="noStrik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457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Char char="•"/>
            </a:pPr>
            <a:r>
              <a:rPr b="0" i="0" lang="en-US" sz="30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Boundary value analysis</a:t>
            </a:r>
            <a:endParaRPr b="0" i="0" sz="3000" u="none" cap="none" strike="noStrik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457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Char char="•"/>
            </a:pPr>
            <a:r>
              <a:rPr b="0" i="0" lang="en-US" sz="30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Decision table testing</a:t>
            </a:r>
            <a:endParaRPr b="0" i="0" sz="3000" u="none" cap="none" strike="noStrik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457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Char char="•"/>
            </a:pPr>
            <a:r>
              <a:rPr b="0" i="0" lang="en-US" sz="30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State transition testing</a:t>
            </a:r>
            <a:endParaRPr b="0" i="0" sz="3000" u="none" cap="none" strike="noStrik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4" name="Google Shape;114;p3"/>
          <p:cNvSpPr txBox="1"/>
          <p:nvPr/>
        </p:nvSpPr>
        <p:spPr>
          <a:xfrm>
            <a:off x="2362200" y="2324100"/>
            <a:ext cx="13831570" cy="9950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9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There are 4 specification based techniques</a:t>
            </a:r>
            <a:endParaRPr b="1" i="0" sz="6000" u="none" cap="none" strike="noStrike">
              <a:solidFill>
                <a:srgbClr val="000000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5F5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"/>
          <p:cNvSpPr/>
          <p:nvPr/>
        </p:nvSpPr>
        <p:spPr>
          <a:xfrm flipH="1">
            <a:off x="13597698" y="-1769921"/>
            <a:ext cx="6217418" cy="4114800"/>
          </a:xfrm>
          <a:custGeom>
            <a:rect b="b" l="l" r="r" t="t"/>
            <a:pathLst>
              <a:path extrusionOk="0" h="4114800" w="6217418">
                <a:moveTo>
                  <a:pt x="6217418" y="0"/>
                </a:moveTo>
                <a:lnTo>
                  <a:pt x="0" y="0"/>
                </a:lnTo>
                <a:lnTo>
                  <a:pt x="0" y="4114800"/>
                </a:lnTo>
                <a:lnTo>
                  <a:pt x="6217418" y="4114800"/>
                </a:lnTo>
                <a:lnTo>
                  <a:pt x="6217418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0" name="Google Shape;120;p4"/>
          <p:cNvSpPr/>
          <p:nvPr/>
        </p:nvSpPr>
        <p:spPr>
          <a:xfrm flipH="1">
            <a:off x="-3108709" y="7013575"/>
            <a:ext cx="6217418" cy="4114800"/>
          </a:xfrm>
          <a:custGeom>
            <a:rect b="b" l="l" r="r" t="t"/>
            <a:pathLst>
              <a:path extrusionOk="0" h="4114800" w="6217418">
                <a:moveTo>
                  <a:pt x="6217418" y="0"/>
                </a:moveTo>
                <a:lnTo>
                  <a:pt x="0" y="0"/>
                </a:lnTo>
                <a:lnTo>
                  <a:pt x="0" y="4114800"/>
                </a:lnTo>
                <a:lnTo>
                  <a:pt x="6217418" y="4114800"/>
                </a:lnTo>
                <a:lnTo>
                  <a:pt x="6217418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21" name="Google Shape;121;p4"/>
          <p:cNvGrpSpPr/>
          <p:nvPr/>
        </p:nvGrpSpPr>
        <p:grpSpPr>
          <a:xfrm>
            <a:off x="1028700" y="1028700"/>
            <a:ext cx="1865630" cy="502078"/>
            <a:chOff x="0" y="0"/>
            <a:chExt cx="2487507" cy="669437"/>
          </a:xfrm>
        </p:grpSpPr>
        <p:sp>
          <p:nvSpPr>
            <p:cNvPr id="122" name="Google Shape;122;p4"/>
            <p:cNvSpPr/>
            <p:nvPr/>
          </p:nvSpPr>
          <p:spPr>
            <a:xfrm>
              <a:off x="0" y="0"/>
              <a:ext cx="669437" cy="669437"/>
            </a:xfrm>
            <a:custGeom>
              <a:rect b="b" l="l" r="r" t="t"/>
              <a:pathLst>
                <a:path extrusionOk="0" h="669437" w="669437">
                  <a:moveTo>
                    <a:pt x="0" y="0"/>
                  </a:moveTo>
                  <a:lnTo>
                    <a:pt x="669437" y="0"/>
                  </a:lnTo>
                  <a:lnTo>
                    <a:pt x="669437" y="669437"/>
                  </a:lnTo>
                  <a:lnTo>
                    <a:pt x="0" y="66943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123" name="Google Shape;123;p4"/>
            <p:cNvSpPr txBox="1"/>
            <p:nvPr/>
          </p:nvSpPr>
          <p:spPr>
            <a:xfrm>
              <a:off x="714587" y="18627"/>
              <a:ext cx="1772920" cy="59774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2500" u="none" cap="none" strike="noStrike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Team 1</a:t>
              </a:r>
              <a:endParaRPr b="0" i="0" sz="25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124" name="Google Shape;124;p4"/>
          <p:cNvSpPr txBox="1"/>
          <p:nvPr/>
        </p:nvSpPr>
        <p:spPr>
          <a:xfrm>
            <a:off x="1530985" y="4838700"/>
            <a:ext cx="16282035" cy="22974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457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Char char="•"/>
            </a:pPr>
            <a:r>
              <a:rPr b="0" i="0" lang="en-US" sz="30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Equivalence Partitioning can be applied to all levels of software testing.</a:t>
            </a:r>
            <a:endParaRPr b="0" i="0" sz="3000" u="none" cap="none" strike="noStrik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457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Char char="•"/>
            </a:pPr>
            <a:r>
              <a:rPr b="0" i="0" lang="en-US" sz="30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It divides input data into groups that exhibit similar behavior.</a:t>
            </a:r>
            <a:endParaRPr b="0" i="0" sz="3000" u="none" cap="none" strike="noStrik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457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Char char="•"/>
            </a:pPr>
            <a:r>
              <a:rPr b="0" i="0" lang="en-US" sz="30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Test cases include valid/invalid data sets, input/output data, internal values.</a:t>
            </a:r>
            <a:endParaRPr b="0" i="0" sz="3000" u="none" cap="none" strike="noStrik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5" name="Google Shape;125;p4"/>
          <p:cNvSpPr txBox="1"/>
          <p:nvPr/>
        </p:nvSpPr>
        <p:spPr>
          <a:xfrm>
            <a:off x="1564640" y="2914650"/>
            <a:ext cx="9704070" cy="13849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0" i="0" lang="en-US" sz="60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Equivalence partitioning</a:t>
            </a:r>
            <a:endParaRPr b="1" i="0" sz="6000" u="none" cap="none" strike="noStrike">
              <a:solidFill>
                <a:srgbClr val="000000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5F5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5"/>
          <p:cNvSpPr/>
          <p:nvPr/>
        </p:nvSpPr>
        <p:spPr>
          <a:xfrm>
            <a:off x="-2080009" y="-1519728"/>
            <a:ext cx="6217418" cy="4114800"/>
          </a:xfrm>
          <a:custGeom>
            <a:rect b="b" l="l" r="r" t="t"/>
            <a:pathLst>
              <a:path extrusionOk="0" h="4114800" w="6217418">
                <a:moveTo>
                  <a:pt x="0" y="0"/>
                </a:moveTo>
                <a:lnTo>
                  <a:pt x="6217418" y="0"/>
                </a:lnTo>
                <a:lnTo>
                  <a:pt x="621741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1" name="Google Shape;131;p5"/>
          <p:cNvSpPr/>
          <p:nvPr/>
        </p:nvSpPr>
        <p:spPr>
          <a:xfrm>
            <a:off x="14695454" y="6826250"/>
            <a:ext cx="6217418" cy="4114800"/>
          </a:xfrm>
          <a:custGeom>
            <a:rect b="b" l="l" r="r" t="t"/>
            <a:pathLst>
              <a:path extrusionOk="0" h="4114800" w="6217418">
                <a:moveTo>
                  <a:pt x="0" y="0"/>
                </a:moveTo>
                <a:lnTo>
                  <a:pt x="6217418" y="0"/>
                </a:lnTo>
                <a:lnTo>
                  <a:pt x="621741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32" name="Google Shape;132;p5"/>
          <p:cNvGrpSpPr/>
          <p:nvPr/>
        </p:nvGrpSpPr>
        <p:grpSpPr>
          <a:xfrm>
            <a:off x="15999460" y="299720"/>
            <a:ext cx="1865630" cy="502078"/>
            <a:chOff x="0" y="0"/>
            <a:chExt cx="2487507" cy="669437"/>
          </a:xfrm>
        </p:grpSpPr>
        <p:sp>
          <p:nvSpPr>
            <p:cNvPr id="133" name="Google Shape;133;p5"/>
            <p:cNvSpPr/>
            <p:nvPr/>
          </p:nvSpPr>
          <p:spPr>
            <a:xfrm>
              <a:off x="0" y="0"/>
              <a:ext cx="669437" cy="669437"/>
            </a:xfrm>
            <a:custGeom>
              <a:rect b="b" l="l" r="r" t="t"/>
              <a:pathLst>
                <a:path extrusionOk="0" h="669437" w="669437">
                  <a:moveTo>
                    <a:pt x="0" y="0"/>
                  </a:moveTo>
                  <a:lnTo>
                    <a:pt x="669437" y="0"/>
                  </a:lnTo>
                  <a:lnTo>
                    <a:pt x="669437" y="669437"/>
                  </a:lnTo>
                  <a:lnTo>
                    <a:pt x="0" y="66943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134" name="Google Shape;134;p5"/>
            <p:cNvSpPr txBox="1"/>
            <p:nvPr/>
          </p:nvSpPr>
          <p:spPr>
            <a:xfrm>
              <a:off x="714587" y="18627"/>
              <a:ext cx="1772920" cy="59774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2500" u="none" cap="none" strike="noStrike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Team 1</a:t>
              </a:r>
              <a:endParaRPr b="0" i="0" sz="25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135" name="Google Shape;135;p5"/>
          <p:cNvSpPr txBox="1"/>
          <p:nvPr/>
        </p:nvSpPr>
        <p:spPr>
          <a:xfrm>
            <a:off x="10515600" y="5981700"/>
            <a:ext cx="6652895" cy="2352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457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Char char="•"/>
            </a:pPr>
            <a:r>
              <a:rPr b="0" i="0" lang="en-US" sz="30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Partition 1:  x&lt;0.5 kg</a:t>
            </a:r>
            <a:endParaRPr b="0" i="0" sz="3000" u="none" cap="none" strike="noStrik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457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Char char="•"/>
            </a:pPr>
            <a:r>
              <a:rPr b="0" i="0" lang="en-US" sz="30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Partition 2: 0.5 kg &lt;= x &lt;= 25 kg</a:t>
            </a:r>
            <a:endParaRPr b="0" i="0" sz="3000" u="none" cap="none" strike="noStrik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457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Char char="•"/>
            </a:pPr>
            <a:r>
              <a:rPr b="0" i="0" lang="en-US" sz="30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Partition 3: x&gt; 25 kg</a:t>
            </a:r>
            <a:endParaRPr b="0" i="0" sz="3000" u="none" cap="none" strike="noStrik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6" name="Google Shape;136;p5"/>
          <p:cNvSpPr txBox="1"/>
          <p:nvPr/>
        </p:nvSpPr>
        <p:spPr>
          <a:xfrm>
            <a:off x="2362200" y="2324100"/>
            <a:ext cx="2870200" cy="9950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9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Example</a:t>
            </a:r>
            <a:endParaRPr b="1" i="0" sz="6000" u="none" cap="none" strike="noStrike">
              <a:solidFill>
                <a:srgbClr val="000000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137" name="Google Shape;137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497185" y="4163060"/>
            <a:ext cx="6924040" cy="1390015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5"/>
          <p:cNvSpPr txBox="1"/>
          <p:nvPr/>
        </p:nvSpPr>
        <p:spPr>
          <a:xfrm>
            <a:off x="2438400" y="3695700"/>
            <a:ext cx="69900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On a vegetable at Winmart.</a:t>
            </a:r>
            <a:endParaRPr sz="30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You can order least 0.5 kg and at most 25 kg.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5F5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"/>
          <p:cNvSpPr/>
          <p:nvPr/>
        </p:nvSpPr>
        <p:spPr>
          <a:xfrm flipH="1">
            <a:off x="13597698" y="-1769921"/>
            <a:ext cx="6217418" cy="4114800"/>
          </a:xfrm>
          <a:custGeom>
            <a:rect b="b" l="l" r="r" t="t"/>
            <a:pathLst>
              <a:path extrusionOk="0" h="4114800" w="6217418">
                <a:moveTo>
                  <a:pt x="6217418" y="0"/>
                </a:moveTo>
                <a:lnTo>
                  <a:pt x="0" y="0"/>
                </a:lnTo>
                <a:lnTo>
                  <a:pt x="0" y="4114800"/>
                </a:lnTo>
                <a:lnTo>
                  <a:pt x="6217418" y="4114800"/>
                </a:lnTo>
                <a:lnTo>
                  <a:pt x="6217418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4" name="Google Shape;144;p7"/>
          <p:cNvSpPr/>
          <p:nvPr/>
        </p:nvSpPr>
        <p:spPr>
          <a:xfrm flipH="1">
            <a:off x="-3108709" y="7013575"/>
            <a:ext cx="6217418" cy="4114800"/>
          </a:xfrm>
          <a:custGeom>
            <a:rect b="b" l="l" r="r" t="t"/>
            <a:pathLst>
              <a:path extrusionOk="0" h="4114800" w="6217418">
                <a:moveTo>
                  <a:pt x="6217418" y="0"/>
                </a:moveTo>
                <a:lnTo>
                  <a:pt x="0" y="0"/>
                </a:lnTo>
                <a:lnTo>
                  <a:pt x="0" y="4114800"/>
                </a:lnTo>
                <a:lnTo>
                  <a:pt x="6217418" y="4114800"/>
                </a:lnTo>
                <a:lnTo>
                  <a:pt x="6217418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45" name="Google Shape;145;p7"/>
          <p:cNvGrpSpPr/>
          <p:nvPr/>
        </p:nvGrpSpPr>
        <p:grpSpPr>
          <a:xfrm>
            <a:off x="1028700" y="1028700"/>
            <a:ext cx="1865630" cy="502078"/>
            <a:chOff x="0" y="0"/>
            <a:chExt cx="2487507" cy="669437"/>
          </a:xfrm>
        </p:grpSpPr>
        <p:sp>
          <p:nvSpPr>
            <p:cNvPr id="146" name="Google Shape;146;p7"/>
            <p:cNvSpPr/>
            <p:nvPr/>
          </p:nvSpPr>
          <p:spPr>
            <a:xfrm>
              <a:off x="0" y="0"/>
              <a:ext cx="669437" cy="669437"/>
            </a:xfrm>
            <a:custGeom>
              <a:rect b="b" l="l" r="r" t="t"/>
              <a:pathLst>
                <a:path extrusionOk="0" h="669437" w="669437">
                  <a:moveTo>
                    <a:pt x="0" y="0"/>
                  </a:moveTo>
                  <a:lnTo>
                    <a:pt x="669437" y="0"/>
                  </a:lnTo>
                  <a:lnTo>
                    <a:pt x="669437" y="669437"/>
                  </a:lnTo>
                  <a:lnTo>
                    <a:pt x="0" y="66943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147" name="Google Shape;147;p7"/>
            <p:cNvSpPr txBox="1"/>
            <p:nvPr/>
          </p:nvSpPr>
          <p:spPr>
            <a:xfrm>
              <a:off x="714587" y="18627"/>
              <a:ext cx="1772920" cy="59774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5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Team 1</a:t>
              </a:r>
              <a:endParaRPr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148" name="Google Shape;148;p7"/>
          <p:cNvSpPr txBox="1"/>
          <p:nvPr/>
        </p:nvSpPr>
        <p:spPr>
          <a:xfrm>
            <a:off x="1530985" y="4838700"/>
            <a:ext cx="16282035" cy="42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457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Can be applied to all levels of software testing.</a:t>
            </a:r>
            <a:endParaRPr sz="30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457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After applying equivalence partitioning, perform boundary testing between the partitions.</a:t>
            </a:r>
            <a:endParaRPr sz="30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457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Two-point boundary: &lt;MIN, MIN, MAX, &gt;MAX</a:t>
            </a:r>
            <a:endParaRPr sz="30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457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Three boundary values: &lt;MIN, MIN, &gt;MIN, &lt;MAX, MAX, &gt;MAX</a:t>
            </a:r>
            <a:endParaRPr sz="30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9" name="Google Shape;149;p7"/>
          <p:cNvSpPr txBox="1"/>
          <p:nvPr/>
        </p:nvSpPr>
        <p:spPr>
          <a:xfrm>
            <a:off x="1564640" y="2914650"/>
            <a:ext cx="9704070" cy="13849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Boundary value analysis</a:t>
            </a:r>
            <a:endParaRPr b="1" sz="6000">
              <a:solidFill>
                <a:srgbClr val="000000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5F5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8"/>
          <p:cNvSpPr/>
          <p:nvPr/>
        </p:nvSpPr>
        <p:spPr>
          <a:xfrm>
            <a:off x="-2080009" y="-1519728"/>
            <a:ext cx="6217418" cy="4114800"/>
          </a:xfrm>
          <a:custGeom>
            <a:rect b="b" l="l" r="r" t="t"/>
            <a:pathLst>
              <a:path extrusionOk="0" h="4114800" w="6217418">
                <a:moveTo>
                  <a:pt x="0" y="0"/>
                </a:moveTo>
                <a:lnTo>
                  <a:pt x="6217418" y="0"/>
                </a:lnTo>
                <a:lnTo>
                  <a:pt x="621741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55" name="Google Shape;155;p8"/>
          <p:cNvSpPr/>
          <p:nvPr/>
        </p:nvSpPr>
        <p:spPr>
          <a:xfrm>
            <a:off x="14695454" y="6826250"/>
            <a:ext cx="6217418" cy="4114800"/>
          </a:xfrm>
          <a:custGeom>
            <a:rect b="b" l="l" r="r" t="t"/>
            <a:pathLst>
              <a:path extrusionOk="0" h="4114800" w="6217418">
                <a:moveTo>
                  <a:pt x="0" y="0"/>
                </a:moveTo>
                <a:lnTo>
                  <a:pt x="6217418" y="0"/>
                </a:lnTo>
                <a:lnTo>
                  <a:pt x="621741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56" name="Google Shape;156;p8"/>
          <p:cNvGrpSpPr/>
          <p:nvPr/>
        </p:nvGrpSpPr>
        <p:grpSpPr>
          <a:xfrm>
            <a:off x="15999460" y="299720"/>
            <a:ext cx="1865630" cy="502078"/>
            <a:chOff x="0" y="0"/>
            <a:chExt cx="2487507" cy="669437"/>
          </a:xfrm>
        </p:grpSpPr>
        <p:sp>
          <p:nvSpPr>
            <p:cNvPr id="157" name="Google Shape;157;p8"/>
            <p:cNvSpPr/>
            <p:nvPr/>
          </p:nvSpPr>
          <p:spPr>
            <a:xfrm>
              <a:off x="0" y="0"/>
              <a:ext cx="669437" cy="669437"/>
            </a:xfrm>
            <a:custGeom>
              <a:rect b="b" l="l" r="r" t="t"/>
              <a:pathLst>
                <a:path extrusionOk="0" h="669437" w="669437">
                  <a:moveTo>
                    <a:pt x="0" y="0"/>
                  </a:moveTo>
                  <a:lnTo>
                    <a:pt x="669437" y="0"/>
                  </a:lnTo>
                  <a:lnTo>
                    <a:pt x="669437" y="669437"/>
                  </a:lnTo>
                  <a:lnTo>
                    <a:pt x="0" y="66943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158" name="Google Shape;158;p8"/>
            <p:cNvSpPr txBox="1"/>
            <p:nvPr/>
          </p:nvSpPr>
          <p:spPr>
            <a:xfrm>
              <a:off x="714587" y="18627"/>
              <a:ext cx="1772920" cy="59774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5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Team 1</a:t>
              </a:r>
              <a:endParaRPr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159" name="Google Shape;159;p8"/>
          <p:cNvSpPr txBox="1"/>
          <p:nvPr/>
        </p:nvSpPr>
        <p:spPr>
          <a:xfrm>
            <a:off x="2438400" y="4991100"/>
            <a:ext cx="9771380" cy="2352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457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Two-point boundary: 04, 0,5, 25, 25.1</a:t>
            </a:r>
            <a:endParaRPr sz="30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457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Three boundary values: 0.4, 0.5, 0.6</a:t>
            </a:r>
            <a:r>
              <a:rPr lang="en-US" sz="3000">
                <a:latin typeface="Poppins"/>
                <a:ea typeface="Poppins"/>
                <a:cs typeface="Poppins"/>
                <a:sym typeface="Poppins"/>
              </a:rPr>
              <a:t>;</a:t>
            </a: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24.9, 25, 25.1</a:t>
            </a:r>
            <a:endParaRPr sz="30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60" name="Google Shape;160;p8"/>
          <p:cNvSpPr txBox="1"/>
          <p:nvPr/>
        </p:nvSpPr>
        <p:spPr>
          <a:xfrm>
            <a:off x="2362200" y="2324100"/>
            <a:ext cx="2870200" cy="9950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9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0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Example</a:t>
            </a:r>
            <a:endParaRPr b="1" sz="6000">
              <a:solidFill>
                <a:srgbClr val="000000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161" name="Google Shape;16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497185" y="4163060"/>
            <a:ext cx="6924040" cy="1390015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8"/>
          <p:cNvSpPr txBox="1"/>
          <p:nvPr/>
        </p:nvSpPr>
        <p:spPr>
          <a:xfrm>
            <a:off x="2438400" y="3695700"/>
            <a:ext cx="6990080" cy="5530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Boundary values: 0.5 and 25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5F5"/>
        </a:solid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9"/>
          <p:cNvSpPr/>
          <p:nvPr/>
        </p:nvSpPr>
        <p:spPr>
          <a:xfrm flipH="1">
            <a:off x="13597698" y="-1769921"/>
            <a:ext cx="6217418" cy="4114800"/>
          </a:xfrm>
          <a:custGeom>
            <a:rect b="b" l="l" r="r" t="t"/>
            <a:pathLst>
              <a:path extrusionOk="0" h="4114800" w="6217418">
                <a:moveTo>
                  <a:pt x="6217418" y="0"/>
                </a:moveTo>
                <a:lnTo>
                  <a:pt x="0" y="0"/>
                </a:lnTo>
                <a:lnTo>
                  <a:pt x="0" y="4114800"/>
                </a:lnTo>
                <a:lnTo>
                  <a:pt x="6217418" y="4114800"/>
                </a:lnTo>
                <a:lnTo>
                  <a:pt x="6217418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68" name="Google Shape;168;p9"/>
          <p:cNvSpPr/>
          <p:nvPr/>
        </p:nvSpPr>
        <p:spPr>
          <a:xfrm flipH="1">
            <a:off x="-3108709" y="7013575"/>
            <a:ext cx="6217418" cy="4114800"/>
          </a:xfrm>
          <a:custGeom>
            <a:rect b="b" l="l" r="r" t="t"/>
            <a:pathLst>
              <a:path extrusionOk="0" h="4114800" w="6217418">
                <a:moveTo>
                  <a:pt x="6217418" y="0"/>
                </a:moveTo>
                <a:lnTo>
                  <a:pt x="0" y="0"/>
                </a:lnTo>
                <a:lnTo>
                  <a:pt x="0" y="4114800"/>
                </a:lnTo>
                <a:lnTo>
                  <a:pt x="6217418" y="4114800"/>
                </a:lnTo>
                <a:lnTo>
                  <a:pt x="6217418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69" name="Google Shape;169;p9"/>
          <p:cNvGrpSpPr/>
          <p:nvPr/>
        </p:nvGrpSpPr>
        <p:grpSpPr>
          <a:xfrm>
            <a:off x="1028700" y="1028700"/>
            <a:ext cx="1865630" cy="502078"/>
            <a:chOff x="0" y="0"/>
            <a:chExt cx="2487507" cy="669437"/>
          </a:xfrm>
        </p:grpSpPr>
        <p:sp>
          <p:nvSpPr>
            <p:cNvPr id="170" name="Google Shape;170;p9"/>
            <p:cNvSpPr/>
            <p:nvPr/>
          </p:nvSpPr>
          <p:spPr>
            <a:xfrm>
              <a:off x="0" y="0"/>
              <a:ext cx="669437" cy="669437"/>
            </a:xfrm>
            <a:custGeom>
              <a:rect b="b" l="l" r="r" t="t"/>
              <a:pathLst>
                <a:path extrusionOk="0" h="669437" w="669437">
                  <a:moveTo>
                    <a:pt x="0" y="0"/>
                  </a:moveTo>
                  <a:lnTo>
                    <a:pt x="669437" y="0"/>
                  </a:lnTo>
                  <a:lnTo>
                    <a:pt x="669437" y="669437"/>
                  </a:lnTo>
                  <a:lnTo>
                    <a:pt x="0" y="66943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171" name="Google Shape;171;p9"/>
            <p:cNvSpPr txBox="1"/>
            <p:nvPr/>
          </p:nvSpPr>
          <p:spPr>
            <a:xfrm>
              <a:off x="714587" y="18627"/>
              <a:ext cx="1772920" cy="59774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5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Team 1</a:t>
              </a:r>
              <a:endParaRPr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172" name="Google Shape;172;p9"/>
          <p:cNvSpPr txBox="1"/>
          <p:nvPr/>
        </p:nvSpPr>
        <p:spPr>
          <a:xfrm>
            <a:off x="1530985" y="4838700"/>
            <a:ext cx="16282035" cy="31470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457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Decision table testing is a software testing technique used to test system behavior for different input combinations. </a:t>
            </a:r>
            <a:endParaRPr sz="30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457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 Decision Table is a tabular representation of inputs versus rules/cases/test conditions.</a:t>
            </a:r>
            <a:endParaRPr sz="30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2667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t/>
            </a:r>
            <a:endParaRPr sz="30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3" name="Google Shape;173;p9"/>
          <p:cNvSpPr txBox="1"/>
          <p:nvPr/>
        </p:nvSpPr>
        <p:spPr>
          <a:xfrm>
            <a:off x="1564640" y="2914650"/>
            <a:ext cx="9704070" cy="13849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Decision table testing</a:t>
            </a:r>
            <a:endParaRPr b="1" sz="6000">
              <a:solidFill>
                <a:srgbClr val="000000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5F5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0"/>
          <p:cNvSpPr/>
          <p:nvPr/>
        </p:nvSpPr>
        <p:spPr>
          <a:xfrm>
            <a:off x="-2080009" y="-1519728"/>
            <a:ext cx="6217418" cy="4114800"/>
          </a:xfrm>
          <a:custGeom>
            <a:rect b="b" l="l" r="r" t="t"/>
            <a:pathLst>
              <a:path extrusionOk="0" h="4114800" w="6217418">
                <a:moveTo>
                  <a:pt x="0" y="0"/>
                </a:moveTo>
                <a:lnTo>
                  <a:pt x="6217418" y="0"/>
                </a:lnTo>
                <a:lnTo>
                  <a:pt x="621741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79" name="Google Shape;179;p10"/>
          <p:cNvSpPr/>
          <p:nvPr/>
        </p:nvSpPr>
        <p:spPr>
          <a:xfrm>
            <a:off x="14695454" y="6826250"/>
            <a:ext cx="6217418" cy="4114800"/>
          </a:xfrm>
          <a:custGeom>
            <a:rect b="b" l="l" r="r" t="t"/>
            <a:pathLst>
              <a:path extrusionOk="0" h="4114800" w="6217418">
                <a:moveTo>
                  <a:pt x="0" y="0"/>
                </a:moveTo>
                <a:lnTo>
                  <a:pt x="6217418" y="0"/>
                </a:lnTo>
                <a:lnTo>
                  <a:pt x="621741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80" name="Google Shape;180;p10"/>
          <p:cNvGrpSpPr/>
          <p:nvPr/>
        </p:nvGrpSpPr>
        <p:grpSpPr>
          <a:xfrm>
            <a:off x="15999460" y="299720"/>
            <a:ext cx="1865630" cy="502078"/>
            <a:chOff x="0" y="0"/>
            <a:chExt cx="2487507" cy="669437"/>
          </a:xfrm>
        </p:grpSpPr>
        <p:sp>
          <p:nvSpPr>
            <p:cNvPr id="181" name="Google Shape;181;p10"/>
            <p:cNvSpPr/>
            <p:nvPr/>
          </p:nvSpPr>
          <p:spPr>
            <a:xfrm>
              <a:off x="0" y="0"/>
              <a:ext cx="669437" cy="669437"/>
            </a:xfrm>
            <a:custGeom>
              <a:rect b="b" l="l" r="r" t="t"/>
              <a:pathLst>
                <a:path extrusionOk="0" h="669437" w="669437">
                  <a:moveTo>
                    <a:pt x="0" y="0"/>
                  </a:moveTo>
                  <a:lnTo>
                    <a:pt x="669437" y="0"/>
                  </a:lnTo>
                  <a:lnTo>
                    <a:pt x="669437" y="669437"/>
                  </a:lnTo>
                  <a:lnTo>
                    <a:pt x="0" y="66943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182" name="Google Shape;182;p10"/>
            <p:cNvSpPr txBox="1"/>
            <p:nvPr/>
          </p:nvSpPr>
          <p:spPr>
            <a:xfrm>
              <a:off x="714587" y="18627"/>
              <a:ext cx="1772920" cy="59774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5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Team 1</a:t>
              </a:r>
              <a:endParaRPr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183" name="Google Shape;183;p10"/>
          <p:cNvSpPr txBox="1"/>
          <p:nvPr/>
        </p:nvSpPr>
        <p:spPr>
          <a:xfrm>
            <a:off x="2362200" y="2324100"/>
            <a:ext cx="2870200" cy="9950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9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0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Example</a:t>
            </a:r>
            <a:endParaRPr b="1" sz="6000">
              <a:solidFill>
                <a:srgbClr val="000000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184" name="Google Shape;184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124883" y="2400300"/>
            <a:ext cx="6677025" cy="285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362200" y="3619500"/>
            <a:ext cx="8626475" cy="39192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5F5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1"/>
          <p:cNvSpPr/>
          <p:nvPr/>
        </p:nvSpPr>
        <p:spPr>
          <a:xfrm flipH="1">
            <a:off x="13597698" y="-1769921"/>
            <a:ext cx="6217418" cy="4114800"/>
          </a:xfrm>
          <a:custGeom>
            <a:rect b="b" l="l" r="r" t="t"/>
            <a:pathLst>
              <a:path extrusionOk="0" h="4114800" w="6217418">
                <a:moveTo>
                  <a:pt x="6217418" y="0"/>
                </a:moveTo>
                <a:lnTo>
                  <a:pt x="0" y="0"/>
                </a:lnTo>
                <a:lnTo>
                  <a:pt x="0" y="4114800"/>
                </a:lnTo>
                <a:lnTo>
                  <a:pt x="6217418" y="4114800"/>
                </a:lnTo>
                <a:lnTo>
                  <a:pt x="6217418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1" name="Google Shape;191;p11"/>
          <p:cNvSpPr/>
          <p:nvPr/>
        </p:nvSpPr>
        <p:spPr>
          <a:xfrm flipH="1">
            <a:off x="-3108709" y="7013575"/>
            <a:ext cx="6217418" cy="4114800"/>
          </a:xfrm>
          <a:custGeom>
            <a:rect b="b" l="l" r="r" t="t"/>
            <a:pathLst>
              <a:path extrusionOk="0" h="4114800" w="6217418">
                <a:moveTo>
                  <a:pt x="6217418" y="0"/>
                </a:moveTo>
                <a:lnTo>
                  <a:pt x="0" y="0"/>
                </a:lnTo>
                <a:lnTo>
                  <a:pt x="0" y="4114800"/>
                </a:lnTo>
                <a:lnTo>
                  <a:pt x="6217418" y="4114800"/>
                </a:lnTo>
                <a:lnTo>
                  <a:pt x="6217418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92" name="Google Shape;192;p11"/>
          <p:cNvGrpSpPr/>
          <p:nvPr/>
        </p:nvGrpSpPr>
        <p:grpSpPr>
          <a:xfrm>
            <a:off x="1028700" y="1028700"/>
            <a:ext cx="1865630" cy="502078"/>
            <a:chOff x="0" y="0"/>
            <a:chExt cx="2487507" cy="669437"/>
          </a:xfrm>
        </p:grpSpPr>
        <p:sp>
          <p:nvSpPr>
            <p:cNvPr id="193" name="Google Shape;193;p11"/>
            <p:cNvSpPr/>
            <p:nvPr/>
          </p:nvSpPr>
          <p:spPr>
            <a:xfrm>
              <a:off x="0" y="0"/>
              <a:ext cx="669437" cy="669437"/>
            </a:xfrm>
            <a:custGeom>
              <a:rect b="b" l="l" r="r" t="t"/>
              <a:pathLst>
                <a:path extrusionOk="0" h="669437" w="669437">
                  <a:moveTo>
                    <a:pt x="0" y="0"/>
                  </a:moveTo>
                  <a:lnTo>
                    <a:pt x="669437" y="0"/>
                  </a:lnTo>
                  <a:lnTo>
                    <a:pt x="669437" y="669437"/>
                  </a:lnTo>
                  <a:lnTo>
                    <a:pt x="0" y="66943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194" name="Google Shape;194;p11"/>
            <p:cNvSpPr txBox="1"/>
            <p:nvPr/>
          </p:nvSpPr>
          <p:spPr>
            <a:xfrm>
              <a:off x="714587" y="18627"/>
              <a:ext cx="1772920" cy="59774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5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Team 1</a:t>
              </a:r>
              <a:endParaRPr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195" name="Google Shape;195;p11"/>
          <p:cNvSpPr txBox="1"/>
          <p:nvPr/>
        </p:nvSpPr>
        <p:spPr>
          <a:xfrm>
            <a:off x="1530985" y="4838700"/>
            <a:ext cx="14833600" cy="4227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457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State Transition Testing is used to test systems that have multiple states and have an impact that changes the state of the system.</a:t>
            </a:r>
            <a:endParaRPr sz="30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457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State Transition Testing provides a method to help you determine the number of test cases you need to write for a system with complex state transitions.</a:t>
            </a:r>
            <a:endParaRPr sz="30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2667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t/>
            </a:r>
            <a:endParaRPr sz="30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96" name="Google Shape;196;p11"/>
          <p:cNvSpPr txBox="1"/>
          <p:nvPr/>
        </p:nvSpPr>
        <p:spPr>
          <a:xfrm>
            <a:off x="1564640" y="2914650"/>
            <a:ext cx="9704070" cy="13849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State transition testing</a:t>
            </a:r>
            <a:endParaRPr b="1" sz="6000">
              <a:solidFill>
                <a:srgbClr val="000000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5F5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2"/>
          <p:cNvSpPr/>
          <p:nvPr/>
        </p:nvSpPr>
        <p:spPr>
          <a:xfrm>
            <a:off x="-2080009" y="-1519728"/>
            <a:ext cx="6217418" cy="4114800"/>
          </a:xfrm>
          <a:custGeom>
            <a:rect b="b" l="l" r="r" t="t"/>
            <a:pathLst>
              <a:path extrusionOk="0" h="4114800" w="6217418">
                <a:moveTo>
                  <a:pt x="0" y="0"/>
                </a:moveTo>
                <a:lnTo>
                  <a:pt x="6217418" y="0"/>
                </a:lnTo>
                <a:lnTo>
                  <a:pt x="621741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02" name="Google Shape;202;p12"/>
          <p:cNvSpPr/>
          <p:nvPr/>
        </p:nvSpPr>
        <p:spPr>
          <a:xfrm>
            <a:off x="14695454" y="6826250"/>
            <a:ext cx="6217418" cy="4114800"/>
          </a:xfrm>
          <a:custGeom>
            <a:rect b="b" l="l" r="r" t="t"/>
            <a:pathLst>
              <a:path extrusionOk="0" h="4114800" w="6217418">
                <a:moveTo>
                  <a:pt x="0" y="0"/>
                </a:moveTo>
                <a:lnTo>
                  <a:pt x="6217418" y="0"/>
                </a:lnTo>
                <a:lnTo>
                  <a:pt x="621741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203" name="Google Shape;203;p12"/>
          <p:cNvGrpSpPr/>
          <p:nvPr/>
        </p:nvGrpSpPr>
        <p:grpSpPr>
          <a:xfrm>
            <a:off x="15999460" y="299720"/>
            <a:ext cx="1865630" cy="502078"/>
            <a:chOff x="0" y="0"/>
            <a:chExt cx="2487507" cy="669437"/>
          </a:xfrm>
        </p:grpSpPr>
        <p:sp>
          <p:nvSpPr>
            <p:cNvPr id="204" name="Google Shape;204;p12"/>
            <p:cNvSpPr/>
            <p:nvPr/>
          </p:nvSpPr>
          <p:spPr>
            <a:xfrm>
              <a:off x="0" y="0"/>
              <a:ext cx="669437" cy="669437"/>
            </a:xfrm>
            <a:custGeom>
              <a:rect b="b" l="l" r="r" t="t"/>
              <a:pathLst>
                <a:path extrusionOk="0" h="669437" w="669437">
                  <a:moveTo>
                    <a:pt x="0" y="0"/>
                  </a:moveTo>
                  <a:lnTo>
                    <a:pt x="669437" y="0"/>
                  </a:lnTo>
                  <a:lnTo>
                    <a:pt x="669437" y="669437"/>
                  </a:lnTo>
                  <a:lnTo>
                    <a:pt x="0" y="66943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205" name="Google Shape;205;p12"/>
            <p:cNvSpPr txBox="1"/>
            <p:nvPr/>
          </p:nvSpPr>
          <p:spPr>
            <a:xfrm>
              <a:off x="714587" y="18627"/>
              <a:ext cx="1772920" cy="59774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5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Team 1</a:t>
              </a:r>
              <a:endParaRPr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206" name="Google Shape;206;p12"/>
          <p:cNvSpPr txBox="1"/>
          <p:nvPr/>
        </p:nvSpPr>
        <p:spPr>
          <a:xfrm>
            <a:off x="2438400" y="5905500"/>
            <a:ext cx="8550910" cy="140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457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TC1: Start ==&gt; Enter incorrect pin &lt; 3 ==&gt;Access to account</a:t>
            </a:r>
            <a:endParaRPr sz="20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457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TC2: Start ==&gt; Enter incorrect pin &gt;= 3 ==&gt; Eat Card</a:t>
            </a:r>
            <a:endParaRPr sz="20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07" name="Google Shape;207;p12"/>
          <p:cNvSpPr txBox="1"/>
          <p:nvPr/>
        </p:nvSpPr>
        <p:spPr>
          <a:xfrm>
            <a:off x="2362200" y="2324100"/>
            <a:ext cx="2870200" cy="9950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9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0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Example</a:t>
            </a:r>
            <a:endParaRPr b="1" sz="6000">
              <a:solidFill>
                <a:srgbClr val="000000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208" name="Google Shape;208;p12"/>
          <p:cNvSpPr txBox="1"/>
          <p:nvPr/>
        </p:nvSpPr>
        <p:spPr>
          <a:xfrm>
            <a:off x="2438400" y="3695700"/>
            <a:ext cx="9013825" cy="19380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ATM machine allows access to an account only if the user enters the correct PIN within 3 attempts.</a:t>
            </a:r>
            <a:endParaRPr sz="20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If the user enters the wrong PIN more than 3 times, the card will be retained by the ATM.</a:t>
            </a:r>
            <a:endParaRPr sz="20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09" name="Google Shape;209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582400" y="3314700"/>
            <a:ext cx="5457825" cy="50368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5F5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3"/>
          <p:cNvSpPr txBox="1"/>
          <p:nvPr/>
        </p:nvSpPr>
        <p:spPr>
          <a:xfrm>
            <a:off x="6172200" y="3337560"/>
            <a:ext cx="4851400" cy="9950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000" u="none" strike="noStrike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THANK YOU</a:t>
            </a:r>
            <a:endParaRPr b="1" sz="8000" u="none" strike="noStrike">
              <a:solidFill>
                <a:srgbClr val="000000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215" name="Google Shape;215;p13"/>
          <p:cNvSpPr txBox="1"/>
          <p:nvPr/>
        </p:nvSpPr>
        <p:spPr>
          <a:xfrm>
            <a:off x="6324600" y="4789240"/>
            <a:ext cx="2043654" cy="441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PHONE</a:t>
            </a:r>
            <a:endParaRPr b="1" sz="25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16" name="Google Shape;216;p13"/>
          <p:cNvSpPr txBox="1"/>
          <p:nvPr/>
        </p:nvSpPr>
        <p:spPr>
          <a:xfrm>
            <a:off x="6324600" y="5277396"/>
            <a:ext cx="3241635" cy="448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0913.095.317</a:t>
            </a:r>
            <a:endParaRPr sz="25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17" name="Google Shape;217;p13"/>
          <p:cNvSpPr/>
          <p:nvPr/>
        </p:nvSpPr>
        <p:spPr>
          <a:xfrm flipH="1">
            <a:off x="11568466" y="-1773049"/>
            <a:ext cx="9225459" cy="6105576"/>
          </a:xfrm>
          <a:custGeom>
            <a:rect b="b" l="l" r="r" t="t"/>
            <a:pathLst>
              <a:path extrusionOk="0" h="6105576" w="9225459">
                <a:moveTo>
                  <a:pt x="9225459" y="0"/>
                </a:moveTo>
                <a:lnTo>
                  <a:pt x="0" y="0"/>
                </a:lnTo>
                <a:lnTo>
                  <a:pt x="0" y="6105576"/>
                </a:lnTo>
                <a:lnTo>
                  <a:pt x="9225459" y="6105576"/>
                </a:lnTo>
                <a:lnTo>
                  <a:pt x="9225459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18" name="Google Shape;218;p13"/>
          <p:cNvSpPr/>
          <p:nvPr/>
        </p:nvSpPr>
        <p:spPr>
          <a:xfrm flipH="1">
            <a:off x="-2699521" y="7046525"/>
            <a:ext cx="6217418" cy="4114800"/>
          </a:xfrm>
          <a:custGeom>
            <a:rect b="b" l="l" r="r" t="t"/>
            <a:pathLst>
              <a:path extrusionOk="0" h="4114800" w="6217418">
                <a:moveTo>
                  <a:pt x="6217418" y="0"/>
                </a:moveTo>
                <a:lnTo>
                  <a:pt x="0" y="0"/>
                </a:lnTo>
                <a:lnTo>
                  <a:pt x="0" y="4114800"/>
                </a:lnTo>
                <a:lnTo>
                  <a:pt x="6217418" y="4114800"/>
                </a:lnTo>
                <a:lnTo>
                  <a:pt x="6217418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219" name="Google Shape;219;p13"/>
          <p:cNvGrpSpPr/>
          <p:nvPr/>
        </p:nvGrpSpPr>
        <p:grpSpPr>
          <a:xfrm>
            <a:off x="1028700" y="1028700"/>
            <a:ext cx="2723077" cy="502078"/>
            <a:chOff x="0" y="0"/>
            <a:chExt cx="3630770" cy="669437"/>
          </a:xfrm>
        </p:grpSpPr>
        <p:sp>
          <p:nvSpPr>
            <p:cNvPr id="220" name="Google Shape;220;p13"/>
            <p:cNvSpPr/>
            <p:nvPr/>
          </p:nvSpPr>
          <p:spPr>
            <a:xfrm>
              <a:off x="0" y="0"/>
              <a:ext cx="669437" cy="669437"/>
            </a:xfrm>
            <a:custGeom>
              <a:rect b="b" l="l" r="r" t="t"/>
              <a:pathLst>
                <a:path extrusionOk="0" h="669437" w="669437">
                  <a:moveTo>
                    <a:pt x="0" y="0"/>
                  </a:moveTo>
                  <a:lnTo>
                    <a:pt x="669437" y="0"/>
                  </a:lnTo>
                  <a:lnTo>
                    <a:pt x="669437" y="669437"/>
                  </a:lnTo>
                  <a:lnTo>
                    <a:pt x="0" y="66943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221" name="Google Shape;221;p13"/>
            <p:cNvSpPr txBox="1"/>
            <p:nvPr/>
          </p:nvSpPr>
          <p:spPr>
            <a:xfrm>
              <a:off x="212309" y="18277"/>
              <a:ext cx="3418461" cy="56620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5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Wardiere Inc.</a:t>
              </a:r>
              <a:endParaRPr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00147B9A0E6C41D589A9A79C82196782_12</vt:lpwstr>
  </property>
  <property fmtid="{D5CDD505-2E9C-101B-9397-08002B2CF9AE}" pid="3" name="KSOProductBuildVer">
    <vt:lpwstr>1033-12.1.0.25180</vt:lpwstr>
  </property>
</Properties>
</file>