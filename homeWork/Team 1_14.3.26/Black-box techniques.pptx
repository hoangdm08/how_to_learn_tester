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8288000" cy="10287000"/>
  <p:notesSz cx="6858000" cy="9144000"/>
  <p:embeddedFontLst>
    <p:embeddedFont>
      <p:font typeface="Oswald" panose="00000500000000000000" pitchFamily="2" charset="0"/>
      <p:regular r:id="rId17"/>
      <p:bold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4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gkFe7JQlGvYxH36fI9Rfe2VR4Z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816" y="66"/>
      </p:cViewPr>
      <p:guideLst>
        <p:guide orient="horz" pos="214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CC3AACB7-A8A7-7032-2EBE-A375C5B7E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>
            <a:extLst>
              <a:ext uri="{FF2B5EF4-FFF2-40B4-BE49-F238E27FC236}">
                <a16:creationId xmlns:a16="http://schemas.microsoft.com/office/drawing/2014/main" id="{D225F2AA-F08F-79B3-6C8C-810DCBC3E1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1:notes">
            <a:extLst>
              <a:ext uri="{FF2B5EF4-FFF2-40B4-BE49-F238E27FC236}">
                <a16:creationId xmlns:a16="http://schemas.microsoft.com/office/drawing/2014/main" id="{38BA39B3-BAF5-1BF7-7A68-3C87AED84C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77988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D83C215C-8052-7B64-F1AF-FBBE4A085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>
            <a:extLst>
              <a:ext uri="{FF2B5EF4-FFF2-40B4-BE49-F238E27FC236}">
                <a16:creationId xmlns:a16="http://schemas.microsoft.com/office/drawing/2014/main" id="{D45656AC-4AC9-AB71-585F-32811B5544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2:notes">
            <a:extLst>
              <a:ext uri="{FF2B5EF4-FFF2-40B4-BE49-F238E27FC236}">
                <a16:creationId xmlns:a16="http://schemas.microsoft.com/office/drawing/2014/main" id="{087B92F4-F4B9-1544-0BA2-97F03C491A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23394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cxnSp>
        <p:nvCxnSpPr>
          <p:cNvPr id="86" name="Google Shape;86;p1"/>
          <p:cNvCxnSpPr/>
          <p:nvPr/>
        </p:nvCxnSpPr>
        <p:spPr>
          <a:xfrm>
            <a:off x="1322033" y="7299371"/>
            <a:ext cx="6492240" cy="0"/>
          </a:xfrm>
          <a:prstGeom prst="straightConnector1">
            <a:avLst/>
          </a:prstGeom>
          <a:noFill/>
          <a:ln w="666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1"/>
          <p:cNvSpPr/>
          <p:nvPr/>
        </p:nvSpPr>
        <p:spPr>
          <a:xfrm>
            <a:off x="8288596" y="1257275"/>
            <a:ext cx="8564342" cy="3864659"/>
          </a:xfrm>
          <a:custGeom>
            <a:avLst/>
            <a:gdLst/>
            <a:ahLst/>
            <a:cxnLst/>
            <a:rect l="l" t="t" r="r" b="b"/>
            <a:pathLst>
              <a:path w="8564342" h="3864659" extrusionOk="0">
                <a:moveTo>
                  <a:pt x="0" y="0"/>
                </a:moveTo>
                <a:lnTo>
                  <a:pt x="8564341" y="0"/>
                </a:lnTo>
                <a:lnTo>
                  <a:pt x="8564341" y="3864660"/>
                </a:lnTo>
                <a:lnTo>
                  <a:pt x="0" y="38646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88" name="Google Shape;88;p1"/>
          <p:cNvSpPr txBox="1"/>
          <p:nvPr/>
        </p:nvSpPr>
        <p:spPr>
          <a:xfrm>
            <a:off x="1295363" y="4588147"/>
            <a:ext cx="6790245" cy="298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0" b="1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Black-box techniques</a:t>
            </a:r>
            <a:endParaRPr sz="10000" b="1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06000" y="5448300"/>
            <a:ext cx="6248400" cy="2762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"/>
          <p:cNvGrpSpPr/>
          <p:nvPr/>
        </p:nvGrpSpPr>
        <p:grpSpPr>
          <a:xfrm>
            <a:off x="15999460" y="299720"/>
            <a:ext cx="1865630" cy="502078"/>
            <a:chOff x="0" y="0"/>
            <a:chExt cx="2487507" cy="669437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6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92" name="Google Shape;92;p1"/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8" name="Google Shape;98;p2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99" name="Google Shape;99;p2"/>
          <p:cNvGrpSpPr/>
          <p:nvPr/>
        </p:nvGrpSpPr>
        <p:grpSpPr>
          <a:xfrm>
            <a:off x="1028700" y="1028700"/>
            <a:ext cx="1865630" cy="502078"/>
            <a:chOff x="0" y="0"/>
            <a:chExt cx="2487507" cy="669437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564640" y="4838700"/>
            <a:ext cx="10546715" cy="4306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Black-box testing is the process of testing an application's functionality without considering its internal structure, design, or code.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main purpose is to verify whether the software behaves according to the specifications and meets the customer's expectations.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564640" y="2914650"/>
            <a:ext cx="9704070" cy="99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What is the Black-box testing?</a:t>
            </a:r>
            <a:endParaRPr sz="6000" b="1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9" name="Google Shape;109;p3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10" name="Google Shape;110;p3"/>
          <p:cNvGrpSpPr/>
          <p:nvPr/>
        </p:nvGrpSpPr>
        <p:grpSpPr>
          <a:xfrm>
            <a:off x="15999460" y="299720"/>
            <a:ext cx="1865690" cy="502078"/>
            <a:chOff x="0" y="0"/>
            <a:chExt cx="2487587" cy="669437"/>
          </a:xfrm>
        </p:grpSpPr>
        <p:sp>
          <p:nvSpPr>
            <p:cNvPr id="111" name="Google Shape;111;p3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12" name="Google Shape;112;p3"/>
            <p:cNvSpPr txBox="1"/>
            <p:nvPr/>
          </p:nvSpPr>
          <p:spPr>
            <a:xfrm>
              <a:off x="714587" y="18627"/>
              <a:ext cx="1773000" cy="597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13" name="Google Shape;113;p3"/>
          <p:cNvSpPr txBox="1"/>
          <p:nvPr/>
        </p:nvSpPr>
        <p:spPr>
          <a:xfrm>
            <a:off x="2438400" y="4076700"/>
            <a:ext cx="5831840" cy="3065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Equivalence partitioning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Boundary value analysis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Decision table testing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State transition testing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2362200" y="2324100"/>
            <a:ext cx="13831570" cy="99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There are 4 specification based techniques</a:t>
            </a:r>
            <a:endParaRPr sz="6000" b="1" i="0" u="none" strike="noStrike" cap="none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0" name="Google Shape;120;p4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21" name="Google Shape;121;p4"/>
          <p:cNvGrpSpPr/>
          <p:nvPr/>
        </p:nvGrpSpPr>
        <p:grpSpPr>
          <a:xfrm>
            <a:off x="1028700" y="1028700"/>
            <a:ext cx="1865630" cy="502078"/>
            <a:chOff x="0" y="0"/>
            <a:chExt cx="2487507" cy="669437"/>
          </a:xfrm>
        </p:grpSpPr>
        <p:sp>
          <p:nvSpPr>
            <p:cNvPr id="122" name="Google Shape;122;p4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23" name="Google Shape;123;p4"/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24" name="Google Shape;124;p4"/>
          <p:cNvSpPr txBox="1"/>
          <p:nvPr/>
        </p:nvSpPr>
        <p:spPr>
          <a:xfrm>
            <a:off x="1530985" y="4838700"/>
            <a:ext cx="16282035" cy="2297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Apply all levels of software testing.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 divides input data into groups that exhibit similar behavior.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 cases include valid/invalid data sets, input/output data, internal values.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1564640" y="2914650"/>
            <a:ext cx="970407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Equivalence partitioning</a:t>
            </a:r>
            <a:endParaRPr sz="6000" b="1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5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32" name="Google Shape;132;p5"/>
          <p:cNvGrpSpPr/>
          <p:nvPr/>
        </p:nvGrpSpPr>
        <p:grpSpPr>
          <a:xfrm>
            <a:off x="15999460" y="299720"/>
            <a:ext cx="1865630" cy="502078"/>
            <a:chOff x="0" y="0"/>
            <a:chExt cx="2487507" cy="669437"/>
          </a:xfrm>
        </p:grpSpPr>
        <p:sp>
          <p:nvSpPr>
            <p:cNvPr id="133" name="Google Shape;133;p5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34" name="Google Shape;134;p5"/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b="0" i="0" u="none" strike="noStrike" cap="non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35" name="Google Shape;135;p5"/>
          <p:cNvSpPr txBox="1"/>
          <p:nvPr/>
        </p:nvSpPr>
        <p:spPr>
          <a:xfrm>
            <a:off x="9038624" y="5929412"/>
            <a:ext cx="6652895" cy="235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Partition 1:  x&lt;0.5 kg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Partition 2: 0.5 kg &lt;= x &lt;= 25 kg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Partition 3: x&gt; 25 kg</a:t>
            </a:r>
            <a:endParaRPr sz="3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5"/>
          <p:cNvSpPr txBox="1"/>
          <p:nvPr/>
        </p:nvSpPr>
        <p:spPr>
          <a:xfrm>
            <a:off x="2362200" y="2324100"/>
            <a:ext cx="2870200" cy="99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Example</a:t>
            </a:r>
            <a:endParaRPr sz="6000" b="1" i="0" u="none" strike="noStrike" cap="non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7" name="Google Shape;137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38624" y="3870252"/>
            <a:ext cx="8382601" cy="168282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2438400" y="3695700"/>
            <a:ext cx="69900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 a vegetable at Winmart.</a:t>
            </a:r>
            <a:endParaRPr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You can order least 0.5 kg and at most 25 kg.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44" name="Google Shape;144;p7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45" name="Google Shape;145;p7"/>
          <p:cNvGrpSpPr/>
          <p:nvPr/>
        </p:nvGrpSpPr>
        <p:grpSpPr>
          <a:xfrm>
            <a:off x="1028700" y="1028700"/>
            <a:ext cx="1865630" cy="502078"/>
            <a:chOff x="0" y="0"/>
            <a:chExt cx="2487507" cy="669437"/>
          </a:xfrm>
        </p:grpSpPr>
        <p:sp>
          <p:nvSpPr>
            <p:cNvPr id="146" name="Google Shape;146;p7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47" name="Google Shape;147;p7"/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48" name="Google Shape;148;p7"/>
          <p:cNvSpPr txBox="1"/>
          <p:nvPr/>
        </p:nvSpPr>
        <p:spPr>
          <a:xfrm>
            <a:off x="1530985" y="4838700"/>
            <a:ext cx="16282035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 be applied to all levels of software testing.</a:t>
            </a:r>
            <a:endParaRPr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After applying equivalence partitioning, perform boundary testing between the partitions.</a:t>
            </a:r>
            <a:endParaRPr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Two-point boundary: &lt;MIN, MIN, MAX, &gt;MAX</a:t>
            </a:r>
            <a:endParaRPr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Three boundary values: &lt;MIN, MIN, &gt;MIN, &lt;MAX, MAX, &gt;MAX</a:t>
            </a:r>
            <a:endParaRPr sz="3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7"/>
          <p:cNvSpPr txBox="1"/>
          <p:nvPr/>
        </p:nvSpPr>
        <p:spPr>
          <a:xfrm>
            <a:off x="1564640" y="2914650"/>
            <a:ext cx="970407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Boundary value analysis</a:t>
            </a:r>
            <a:endParaRPr sz="6000" b="1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5" name="Google Shape;155;p8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56" name="Google Shape;156;p8"/>
          <p:cNvGrpSpPr/>
          <p:nvPr/>
        </p:nvGrpSpPr>
        <p:grpSpPr>
          <a:xfrm>
            <a:off x="15999460" y="299720"/>
            <a:ext cx="1865630" cy="502078"/>
            <a:chOff x="0" y="0"/>
            <a:chExt cx="2487507" cy="669437"/>
          </a:xfrm>
        </p:grpSpPr>
        <p:sp>
          <p:nvSpPr>
            <p:cNvPr id="157" name="Google Shape;157;p8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58" name="Google Shape;158;p8"/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59" name="Google Shape;159;p8"/>
          <p:cNvSpPr txBox="1"/>
          <p:nvPr/>
        </p:nvSpPr>
        <p:spPr>
          <a:xfrm>
            <a:off x="2438400" y="4991100"/>
            <a:ext cx="9771380" cy="235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Two-point boundary: 04, 0,5; 25, 25.1</a:t>
            </a:r>
            <a:endParaRPr sz="3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Three boundary values: 0.4, 0.5, 0.6</a:t>
            </a:r>
            <a:r>
              <a:rPr lang="en-US" sz="3000" dirty="0">
                <a:latin typeface="Poppins"/>
                <a:ea typeface="Poppins"/>
                <a:cs typeface="Poppins"/>
                <a:sym typeface="Poppins"/>
              </a:rPr>
              <a:t>;</a:t>
            </a:r>
            <a:r>
              <a:rPr lang="en-US" sz="3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24.9, 25, 25.1</a:t>
            </a:r>
            <a:endParaRPr sz="3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2362200" y="2324100"/>
            <a:ext cx="2870200" cy="99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Example</a:t>
            </a:r>
            <a:endParaRPr sz="6000" b="1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1" name="Google Shape;161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09544" y="3912782"/>
            <a:ext cx="8099322" cy="189057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8"/>
          <p:cNvSpPr txBox="1"/>
          <p:nvPr/>
        </p:nvSpPr>
        <p:spPr>
          <a:xfrm>
            <a:off x="2438400" y="3695700"/>
            <a:ext cx="6990080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Boundary values: 0.5 and 25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8" name="Google Shape;168;p9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69" name="Google Shape;169;p9"/>
          <p:cNvGrpSpPr/>
          <p:nvPr/>
        </p:nvGrpSpPr>
        <p:grpSpPr>
          <a:xfrm>
            <a:off x="1028700" y="1028700"/>
            <a:ext cx="1865630" cy="502078"/>
            <a:chOff x="0" y="0"/>
            <a:chExt cx="2487507" cy="669437"/>
          </a:xfrm>
        </p:grpSpPr>
        <p:sp>
          <p:nvSpPr>
            <p:cNvPr id="170" name="Google Shape;170;p9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1" name="Google Shape;171;p9"/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72" name="Google Shape;172;p9"/>
          <p:cNvSpPr txBox="1"/>
          <p:nvPr/>
        </p:nvSpPr>
        <p:spPr>
          <a:xfrm>
            <a:off x="1530985" y="4838700"/>
            <a:ext cx="16282035" cy="3147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Decision table testing is a software testing technique used to test system behavior for different input combinations. </a:t>
            </a:r>
            <a:endParaRPr sz="3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Decision Table is a tabular representation of inputs versus rules/cases/test conditions.</a:t>
            </a:r>
            <a:endParaRPr sz="3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667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3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9"/>
          <p:cNvSpPr txBox="1"/>
          <p:nvPr/>
        </p:nvSpPr>
        <p:spPr>
          <a:xfrm>
            <a:off x="1564640" y="2914650"/>
            <a:ext cx="970407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Decision table testing</a:t>
            </a:r>
            <a:endParaRPr sz="6000" b="1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79" name="Google Shape;179;p10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80" name="Google Shape;180;p10"/>
          <p:cNvGrpSpPr/>
          <p:nvPr/>
        </p:nvGrpSpPr>
        <p:grpSpPr>
          <a:xfrm>
            <a:off x="15999460" y="299720"/>
            <a:ext cx="1865630" cy="502078"/>
            <a:chOff x="0" y="0"/>
            <a:chExt cx="2487507" cy="669437"/>
          </a:xfrm>
        </p:grpSpPr>
        <p:sp>
          <p:nvSpPr>
            <p:cNvPr id="181" name="Google Shape;181;p10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82" name="Google Shape;182;p10"/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83" name="Google Shape;183;p10"/>
          <p:cNvSpPr txBox="1"/>
          <p:nvPr/>
        </p:nvSpPr>
        <p:spPr>
          <a:xfrm>
            <a:off x="2362200" y="2324100"/>
            <a:ext cx="2870200" cy="99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Example</a:t>
            </a:r>
            <a:endParaRPr sz="6000" b="1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84" name="Google Shape;184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24883" y="2400300"/>
            <a:ext cx="6677025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362200" y="3619500"/>
            <a:ext cx="8626475" cy="3919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1" name="Google Shape;191;p11"/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92" name="Google Shape;192;p11"/>
          <p:cNvGrpSpPr/>
          <p:nvPr/>
        </p:nvGrpSpPr>
        <p:grpSpPr>
          <a:xfrm>
            <a:off x="1028700" y="1028700"/>
            <a:ext cx="1865630" cy="502078"/>
            <a:chOff x="0" y="0"/>
            <a:chExt cx="2487507" cy="669437"/>
          </a:xfrm>
        </p:grpSpPr>
        <p:sp>
          <p:nvSpPr>
            <p:cNvPr id="193" name="Google Shape;193;p11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94" name="Google Shape;194;p11"/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95" name="Google Shape;195;p11"/>
          <p:cNvSpPr txBox="1"/>
          <p:nvPr/>
        </p:nvSpPr>
        <p:spPr>
          <a:xfrm>
            <a:off x="1530985" y="4838700"/>
            <a:ext cx="14833600" cy="4227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State Transition Testing is used to test systems that have multiple states and have an impact that changes the state of the system.</a:t>
            </a:r>
            <a:endParaRPr sz="3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State Transition Testing provides a method to help you determine the number of test cases you need to write for a system with complex state transitions.</a:t>
            </a:r>
            <a:endParaRPr sz="3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2667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3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1564640" y="2914650"/>
            <a:ext cx="9704070" cy="138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State transition testing</a:t>
            </a:r>
            <a:endParaRPr sz="6000" b="1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/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Google Shape;202;p12"/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03" name="Google Shape;203;p12"/>
          <p:cNvGrpSpPr/>
          <p:nvPr/>
        </p:nvGrpSpPr>
        <p:grpSpPr>
          <a:xfrm>
            <a:off x="15999460" y="299720"/>
            <a:ext cx="1865630" cy="502078"/>
            <a:chOff x="0" y="0"/>
            <a:chExt cx="2487507" cy="669437"/>
          </a:xfrm>
        </p:grpSpPr>
        <p:sp>
          <p:nvSpPr>
            <p:cNvPr id="204" name="Google Shape;204;p12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5" name="Google Shape;205;p12"/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06" name="Google Shape;206;p12"/>
          <p:cNvSpPr txBox="1"/>
          <p:nvPr/>
        </p:nvSpPr>
        <p:spPr>
          <a:xfrm>
            <a:off x="2438400" y="5905500"/>
            <a:ext cx="7301023" cy="140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TC1: Start ==&gt; Enter incorrect pin &lt; 3 ==&gt;Access to account</a:t>
            </a:r>
            <a:endParaRPr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4572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TC2: Start ==&gt; Enter incorrect pin &gt;= 3 ==&gt; Eat Card</a:t>
            </a:r>
            <a:endParaRPr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2362200" y="2324100"/>
            <a:ext cx="2870200" cy="99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9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Example</a:t>
            </a:r>
            <a:endParaRPr sz="6000" b="1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2438401" y="3695700"/>
            <a:ext cx="7534940" cy="1938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ATM machine allows access to an account only if the user enters the correct PIN within 3 attempts.</a:t>
            </a:r>
            <a:endParaRPr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 the user enters the wrong PIN more than 3 times, the card will be retained by the ATM.</a:t>
            </a:r>
            <a:endParaRPr sz="20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15B0B4-3F3E-B473-3E57-067CEFA3A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9413" y="1866899"/>
            <a:ext cx="7845966" cy="4470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BCB4D73B-34F1-F8E5-5670-3DBC42A7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>
            <a:extLst>
              <a:ext uri="{FF2B5EF4-FFF2-40B4-BE49-F238E27FC236}">
                <a16:creationId xmlns:a16="http://schemas.microsoft.com/office/drawing/2014/main" id="{B59F9FB9-ECAD-3352-A8FA-F6B5878A5054}"/>
              </a:ext>
            </a:extLst>
          </p:cNvPr>
          <p:cNvSpPr/>
          <p:nvPr/>
        </p:nvSpPr>
        <p:spPr>
          <a:xfrm flipH="1">
            <a:off x="13597698" y="-1769921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1" name="Google Shape;191;p11">
            <a:extLst>
              <a:ext uri="{FF2B5EF4-FFF2-40B4-BE49-F238E27FC236}">
                <a16:creationId xmlns:a16="http://schemas.microsoft.com/office/drawing/2014/main" id="{A2E91E72-C01D-F176-D72E-C1DC6F4CAED0}"/>
              </a:ext>
            </a:extLst>
          </p:cNvPr>
          <p:cNvSpPr/>
          <p:nvPr/>
        </p:nvSpPr>
        <p:spPr>
          <a:xfrm flipH="1">
            <a:off x="-3108709" y="701357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192" name="Google Shape;192;p11">
            <a:extLst>
              <a:ext uri="{FF2B5EF4-FFF2-40B4-BE49-F238E27FC236}">
                <a16:creationId xmlns:a16="http://schemas.microsoft.com/office/drawing/2014/main" id="{9AF11D0C-290A-2D2E-5995-6E2E6EFFEEA7}"/>
              </a:ext>
            </a:extLst>
          </p:cNvPr>
          <p:cNvGrpSpPr/>
          <p:nvPr/>
        </p:nvGrpSpPr>
        <p:grpSpPr>
          <a:xfrm>
            <a:off x="1028700" y="1028700"/>
            <a:ext cx="1865630" cy="502078"/>
            <a:chOff x="0" y="0"/>
            <a:chExt cx="2487507" cy="669437"/>
          </a:xfrm>
        </p:grpSpPr>
        <p:sp>
          <p:nvSpPr>
            <p:cNvPr id="193" name="Google Shape;193;p11">
              <a:extLst>
                <a:ext uri="{FF2B5EF4-FFF2-40B4-BE49-F238E27FC236}">
                  <a16:creationId xmlns:a16="http://schemas.microsoft.com/office/drawing/2014/main" id="{1655711F-CA2E-F61F-908D-61BC66C6CB60}"/>
                </a:ext>
              </a:extLst>
            </p:cNvPr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94" name="Google Shape;194;p11">
              <a:extLst>
                <a:ext uri="{FF2B5EF4-FFF2-40B4-BE49-F238E27FC236}">
                  <a16:creationId xmlns:a16="http://schemas.microsoft.com/office/drawing/2014/main" id="{9AFF01BF-2827-6608-5DE1-C3F820B9765D}"/>
                </a:ext>
              </a:extLst>
            </p:cNvPr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95" name="Google Shape;195;p11">
            <a:extLst>
              <a:ext uri="{FF2B5EF4-FFF2-40B4-BE49-F238E27FC236}">
                <a16:creationId xmlns:a16="http://schemas.microsoft.com/office/drawing/2014/main" id="{F9F92096-B072-D12F-8824-9C9DE14A57AC}"/>
              </a:ext>
            </a:extLst>
          </p:cNvPr>
          <p:cNvSpPr txBox="1"/>
          <p:nvPr/>
        </p:nvSpPr>
        <p:spPr>
          <a:xfrm>
            <a:off x="1530985" y="4838700"/>
            <a:ext cx="14833600" cy="341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3000" dirty="0">
                <a:latin typeface="Poppins"/>
                <a:cs typeface="Poppins"/>
              </a:rPr>
              <a:t>Functional testing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3000" dirty="0">
                <a:latin typeface="Poppins"/>
                <a:cs typeface="Poppins"/>
              </a:rPr>
              <a:t>Requirement available</a:t>
            </a:r>
          </a:p>
          <a:p>
            <a:pPr marL="457200" lvl="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3000" dirty="0">
                <a:latin typeface="Poppins"/>
                <a:cs typeface="Poppins"/>
              </a:rPr>
              <a:t>QC does not have access to the source code</a:t>
            </a:r>
          </a:p>
        </p:txBody>
      </p:sp>
      <p:sp>
        <p:nvSpPr>
          <p:cNvPr id="196" name="Google Shape;196;p11">
            <a:extLst>
              <a:ext uri="{FF2B5EF4-FFF2-40B4-BE49-F238E27FC236}">
                <a16:creationId xmlns:a16="http://schemas.microsoft.com/office/drawing/2014/main" id="{92CC7F69-AD96-B034-5051-5C8724894E6F}"/>
              </a:ext>
            </a:extLst>
          </p:cNvPr>
          <p:cNvSpPr txBox="1"/>
          <p:nvPr/>
        </p:nvSpPr>
        <p:spPr>
          <a:xfrm>
            <a:off x="1564640" y="2914650"/>
            <a:ext cx="970407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  <a:buSzPts val="6000"/>
            </a:pPr>
            <a:r>
              <a:rPr lang="en-US" sz="6000" dirty="0"/>
              <a:t>When to use</a:t>
            </a:r>
            <a:endParaRPr sz="6000" b="1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  <p:extLst>
      <p:ext uri="{BB962C8B-B14F-4D97-AF65-F5344CB8AC3E}">
        <p14:creationId xmlns:p14="http://schemas.microsoft.com/office/powerpoint/2010/main" val="2096601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B3146085-9DBA-CC10-1CED-1B4E0E02A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2">
            <a:extLst>
              <a:ext uri="{FF2B5EF4-FFF2-40B4-BE49-F238E27FC236}">
                <a16:creationId xmlns:a16="http://schemas.microsoft.com/office/drawing/2014/main" id="{8F1A6AF5-BE7B-79DA-6C67-A210AD30847A}"/>
              </a:ext>
            </a:extLst>
          </p:cNvPr>
          <p:cNvSpPr/>
          <p:nvPr/>
        </p:nvSpPr>
        <p:spPr>
          <a:xfrm>
            <a:off x="-2080009" y="-1519728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2" name="Google Shape;202;p12">
            <a:extLst>
              <a:ext uri="{FF2B5EF4-FFF2-40B4-BE49-F238E27FC236}">
                <a16:creationId xmlns:a16="http://schemas.microsoft.com/office/drawing/2014/main" id="{79E5DB23-52DA-E1AC-042B-09DD7523FB80}"/>
              </a:ext>
            </a:extLst>
          </p:cNvPr>
          <p:cNvSpPr/>
          <p:nvPr/>
        </p:nvSpPr>
        <p:spPr>
          <a:xfrm>
            <a:off x="14695454" y="6826250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03" name="Google Shape;203;p12">
            <a:extLst>
              <a:ext uri="{FF2B5EF4-FFF2-40B4-BE49-F238E27FC236}">
                <a16:creationId xmlns:a16="http://schemas.microsoft.com/office/drawing/2014/main" id="{038F7BCE-9498-DDF6-A413-424D454FEBB6}"/>
              </a:ext>
            </a:extLst>
          </p:cNvPr>
          <p:cNvGrpSpPr/>
          <p:nvPr/>
        </p:nvGrpSpPr>
        <p:grpSpPr>
          <a:xfrm>
            <a:off x="15999460" y="299720"/>
            <a:ext cx="1865630" cy="502078"/>
            <a:chOff x="0" y="0"/>
            <a:chExt cx="2487507" cy="669437"/>
          </a:xfrm>
        </p:grpSpPr>
        <p:sp>
          <p:nvSpPr>
            <p:cNvPr id="204" name="Google Shape;204;p12">
              <a:extLst>
                <a:ext uri="{FF2B5EF4-FFF2-40B4-BE49-F238E27FC236}">
                  <a16:creationId xmlns:a16="http://schemas.microsoft.com/office/drawing/2014/main" id="{DE39B611-DBA1-33C1-674A-2D92BF535928}"/>
                </a:ext>
              </a:extLst>
            </p:cNvPr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05" name="Google Shape;205;p12">
              <a:extLst>
                <a:ext uri="{FF2B5EF4-FFF2-40B4-BE49-F238E27FC236}">
                  <a16:creationId xmlns:a16="http://schemas.microsoft.com/office/drawing/2014/main" id="{528BCCE0-4E17-EB56-9A57-E9418AC0C1FC}"/>
                </a:ext>
              </a:extLst>
            </p:cNvPr>
            <p:cNvSpPr txBox="1"/>
            <p:nvPr/>
          </p:nvSpPr>
          <p:spPr>
            <a:xfrm>
              <a:off x="714587" y="18627"/>
              <a:ext cx="1772920" cy="5977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07" name="Google Shape;207;p12">
            <a:extLst>
              <a:ext uri="{FF2B5EF4-FFF2-40B4-BE49-F238E27FC236}">
                <a16:creationId xmlns:a16="http://schemas.microsoft.com/office/drawing/2014/main" id="{B56734D9-9FD1-9D7B-1DCE-6C45A184A432}"/>
              </a:ext>
            </a:extLst>
          </p:cNvPr>
          <p:cNvSpPr txBox="1"/>
          <p:nvPr/>
        </p:nvSpPr>
        <p:spPr>
          <a:xfrm>
            <a:off x="2438400" y="2319655"/>
            <a:ext cx="855091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  <a:buSzPts val="6000"/>
            </a:pPr>
            <a:r>
              <a:rPr lang="en-US" sz="6000" dirty="0"/>
              <a:t>Purpose</a:t>
            </a:r>
            <a:endParaRPr sz="6000" dirty="0">
              <a:sym typeface="Oswald"/>
            </a:endParaRPr>
          </a:p>
        </p:txBody>
      </p:sp>
      <p:sp>
        <p:nvSpPr>
          <p:cNvPr id="2" name="Google Shape;195;p11">
            <a:extLst>
              <a:ext uri="{FF2B5EF4-FFF2-40B4-BE49-F238E27FC236}">
                <a16:creationId xmlns:a16="http://schemas.microsoft.com/office/drawing/2014/main" id="{E22CAF48-FAF0-ED84-DA7C-D4C36BA56283}"/>
              </a:ext>
            </a:extLst>
          </p:cNvPr>
          <p:cNvSpPr txBox="1"/>
          <p:nvPr/>
        </p:nvSpPr>
        <p:spPr>
          <a:xfrm>
            <a:off x="2438400" y="4131868"/>
            <a:ext cx="13545982" cy="4714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3000" dirty="0">
                <a:latin typeface="Poppins"/>
                <a:cs typeface="Poppins"/>
              </a:rPr>
              <a:t>To minimize the number of test </a:t>
            </a:r>
            <a:r>
              <a:rPr lang="en-US" sz="3200" dirty="0"/>
              <a:t>cases</a:t>
            </a:r>
            <a:endParaRPr lang="en-US" altLang="en-US" sz="3000" dirty="0">
              <a:latin typeface="Poppins"/>
              <a:cs typeface="Poppins"/>
            </a:endParaRPr>
          </a:p>
          <a:p>
            <a:pPr marL="45720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3000" dirty="0">
                <a:latin typeface="Poppins"/>
                <a:cs typeface="Poppins"/>
              </a:rPr>
              <a:t>To identify representative test cases</a:t>
            </a:r>
          </a:p>
          <a:p>
            <a:pPr marL="45720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sz="3200" dirty="0"/>
              <a:t>Cover important rules</a:t>
            </a:r>
          </a:p>
          <a:p>
            <a:pPr marL="45720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 typeface="Courier New" panose="02070309020205020404" pitchFamily="49" charset="0"/>
              <a:buChar char="o"/>
            </a:pPr>
            <a:r>
              <a:rPr lang="en-US" altLang="en-US" sz="3200" dirty="0">
                <a:solidFill>
                  <a:schemeClr val="tx1"/>
                </a:solidFill>
                <a:latin typeface="Arial" panose="020B0604020202020204" pitchFamily="34" charset="0"/>
              </a:rPr>
              <a:t>To detect defects related to functionality, inputs, outputs, and workflows</a:t>
            </a:r>
          </a:p>
        </p:txBody>
      </p:sp>
    </p:spTree>
    <p:extLst>
      <p:ext uri="{BB962C8B-B14F-4D97-AF65-F5344CB8AC3E}">
        <p14:creationId xmlns:p14="http://schemas.microsoft.com/office/powerpoint/2010/main" val="3394056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"/>
          <p:cNvSpPr txBox="1"/>
          <p:nvPr/>
        </p:nvSpPr>
        <p:spPr>
          <a:xfrm>
            <a:off x="6172200" y="3337560"/>
            <a:ext cx="4851400" cy="99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THANK YOU</a:t>
            </a:r>
            <a:endParaRPr sz="8000" b="1" u="none" strike="noStrike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6324600" y="4789240"/>
            <a:ext cx="2043654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PHONE</a:t>
            </a:r>
            <a:endParaRPr sz="2500" b="1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6324600" y="5277396"/>
            <a:ext cx="3241635" cy="448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0913.095.317</a:t>
            </a:r>
            <a:endParaRPr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p13"/>
          <p:cNvSpPr/>
          <p:nvPr/>
        </p:nvSpPr>
        <p:spPr>
          <a:xfrm flipH="1">
            <a:off x="11568466" y="-1773049"/>
            <a:ext cx="9225459" cy="6105576"/>
          </a:xfrm>
          <a:custGeom>
            <a:avLst/>
            <a:gdLst/>
            <a:ahLst/>
            <a:cxnLst/>
            <a:rect l="l" t="t" r="r" b="b"/>
            <a:pathLst>
              <a:path w="9225459" h="6105576" extrusionOk="0">
                <a:moveTo>
                  <a:pt x="9225459" y="0"/>
                </a:moveTo>
                <a:lnTo>
                  <a:pt x="0" y="0"/>
                </a:lnTo>
                <a:lnTo>
                  <a:pt x="0" y="6105576"/>
                </a:lnTo>
                <a:lnTo>
                  <a:pt x="9225459" y="6105576"/>
                </a:lnTo>
                <a:lnTo>
                  <a:pt x="9225459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18" name="Google Shape;218;p13"/>
          <p:cNvSpPr/>
          <p:nvPr/>
        </p:nvSpPr>
        <p:spPr>
          <a:xfrm flipH="1">
            <a:off x="-2699521" y="7046525"/>
            <a:ext cx="6217418" cy="4114800"/>
          </a:xfrm>
          <a:custGeom>
            <a:avLst/>
            <a:gdLst/>
            <a:ahLst/>
            <a:cxnLst/>
            <a:rect l="l" t="t" r="r" b="b"/>
            <a:pathLst>
              <a:path w="6217418" h="4114800" extrusionOk="0">
                <a:moveTo>
                  <a:pt x="6217418" y="0"/>
                </a:moveTo>
                <a:lnTo>
                  <a:pt x="0" y="0"/>
                </a:lnTo>
                <a:lnTo>
                  <a:pt x="0" y="4114800"/>
                </a:lnTo>
                <a:lnTo>
                  <a:pt x="6217418" y="4114800"/>
                </a:lnTo>
                <a:lnTo>
                  <a:pt x="621741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9" name="Google Shape;219;p13"/>
          <p:cNvGrpSpPr/>
          <p:nvPr/>
        </p:nvGrpSpPr>
        <p:grpSpPr>
          <a:xfrm>
            <a:off x="1028700" y="1028700"/>
            <a:ext cx="1757031" cy="552317"/>
            <a:chOff x="0" y="0"/>
            <a:chExt cx="2342709" cy="736422"/>
          </a:xfrm>
        </p:grpSpPr>
        <p:sp>
          <p:nvSpPr>
            <p:cNvPr id="220" name="Google Shape;220;p13"/>
            <p:cNvSpPr/>
            <p:nvPr/>
          </p:nvSpPr>
          <p:spPr>
            <a:xfrm>
              <a:off x="0" y="0"/>
              <a:ext cx="669437" cy="669437"/>
            </a:xfrm>
            <a:custGeom>
              <a:avLst/>
              <a:gdLst/>
              <a:ahLst/>
              <a:cxnLst/>
              <a:rect l="l" t="t" r="r" b="b"/>
              <a:pathLst>
                <a:path w="669437" h="669437" extrusionOk="0">
                  <a:moveTo>
                    <a:pt x="0" y="0"/>
                  </a:moveTo>
                  <a:lnTo>
                    <a:pt x="669437" y="0"/>
                  </a:lnTo>
                  <a:lnTo>
                    <a:pt x="669437" y="669437"/>
                  </a:lnTo>
                  <a:lnTo>
                    <a:pt x="0" y="66943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21" name="Google Shape;221;p13"/>
            <p:cNvSpPr txBox="1"/>
            <p:nvPr/>
          </p:nvSpPr>
          <p:spPr>
            <a:xfrm>
              <a:off x="212311" y="18277"/>
              <a:ext cx="2130398" cy="718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5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Team 1</a:t>
              </a:r>
              <a:endParaRPr sz="25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470</Words>
  <Application>Microsoft Office PowerPoint</Application>
  <PresentationFormat>Custom</PresentationFormat>
  <Paragraphs>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Arial</vt:lpstr>
      <vt:lpstr>Oswald</vt:lpstr>
      <vt:lpstr>Courier New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minh hoang</cp:lastModifiedBy>
  <cp:revision>11</cp:revision>
  <dcterms:created xsi:type="dcterms:W3CDTF">2006-08-16T00:00:00Z</dcterms:created>
  <dcterms:modified xsi:type="dcterms:W3CDTF">2026-03-16T14:27:42Z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00147B9A0E6C41D589A9A79C82196782_12</vt:lpwstr>
  </property>
  <property fmtid="{D5CDD505-2E9C-101B-9397-08002B2CF9AE}" pid="3" name="KSOProductBuildVer">
    <vt:lpwstr>1033-12.1.0.25180</vt:lpwstr>
  </property>
</Properties>
</file>