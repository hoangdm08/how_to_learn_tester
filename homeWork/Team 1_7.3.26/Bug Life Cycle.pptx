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Asap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3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8qYMAvkxUJt/8PDxXQelpEvEl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33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sap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Asap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sap-bold.fntdata"/><Relationship Id="rId6" Type="http://schemas.openxmlformats.org/officeDocument/2006/relationships/slide" Target="slides/slide1.xml"/><Relationship Id="rId18" Type="http://schemas.openxmlformats.org/officeDocument/2006/relationships/font" Target="fonts/Asap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700" r="-12540" t="-3777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-3080052" y="-7723902"/>
            <a:ext cx="11032926" cy="9544289"/>
          </a:xfrm>
          <a:custGeom>
            <a:rect b="b" l="l" r="r" t="t"/>
            <a:pathLst>
              <a:path extrusionOk="0" h="5372100" w="6209994">
                <a:moveTo>
                  <a:pt x="4659324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659324" y="5372100"/>
                </a:lnTo>
                <a:lnTo>
                  <a:pt x="6209994" y="2686050"/>
                </a:lnTo>
                <a:lnTo>
                  <a:pt x="4659324" y="0"/>
                </a:lnTo>
                <a:close/>
              </a:path>
            </a:pathLst>
          </a:custGeom>
          <a:solidFill>
            <a:srgbClr val="1836B2"/>
          </a:solid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10800000">
            <a:off x="4741512" y="3973382"/>
            <a:ext cx="17580182" cy="13157506"/>
          </a:xfrm>
          <a:custGeom>
            <a:rect b="b" l="l" r="r" t="t"/>
            <a:pathLst>
              <a:path extrusionOk="0" h="5372100" w="7177842">
                <a:moveTo>
                  <a:pt x="5627172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5627172" y="5372100"/>
                </a:lnTo>
                <a:lnTo>
                  <a:pt x="7177842" y="2686050"/>
                </a:lnTo>
                <a:lnTo>
                  <a:pt x="5627172" y="0"/>
                </a:lnTo>
                <a:close/>
              </a:path>
            </a:pathLst>
          </a:custGeom>
          <a:solidFill>
            <a:srgbClr val="A066CB"/>
          </a:solid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8468350" y="4102375"/>
            <a:ext cx="9443100" cy="15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b="1" i="0" lang="en-US" sz="100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BUG LIFE CYCLE</a:t>
            </a:r>
            <a:endParaRPr b="1" i="0" sz="100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995057" y="698924"/>
            <a:ext cx="3506527" cy="564302"/>
            <a:chOff x="0" y="0"/>
            <a:chExt cx="4675370" cy="752402"/>
          </a:xfrm>
        </p:grpSpPr>
        <p:sp>
          <p:nvSpPr>
            <p:cNvPr id="89" name="Google Shape;89;p1"/>
            <p:cNvSpPr txBox="1"/>
            <p:nvPr/>
          </p:nvSpPr>
          <p:spPr>
            <a:xfrm>
              <a:off x="1711549" y="24335"/>
              <a:ext cx="2963821" cy="603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25"/>
                <a:buFont typeface="Arial"/>
                <a:buNone/>
              </a:pPr>
              <a:r>
                <a:rPr b="1" i="0" lang="en-US" sz="2525" u="none" cap="none" strike="noStrike">
                  <a:solidFill>
                    <a:srgbClr val="FFFFFF"/>
                  </a:solidFill>
                  <a:latin typeface="Asap"/>
                  <a:ea typeface="Asap"/>
                  <a:cs typeface="Asap"/>
                  <a:sym typeface="Asap"/>
                </a:rPr>
                <a:t>ST83_Team 1</a:t>
              </a:r>
              <a:endParaRPr b="1" i="0" sz="2525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0" y="0"/>
              <a:ext cx="1317768" cy="752402"/>
            </a:xfrm>
            <a:custGeom>
              <a:rect b="b" l="l" r="r" t="t"/>
              <a:pathLst>
                <a:path extrusionOk="0" h="752402" w="1317768">
                  <a:moveTo>
                    <a:pt x="0" y="0"/>
                  </a:moveTo>
                  <a:lnTo>
                    <a:pt x="1317768" y="0"/>
                  </a:lnTo>
                  <a:lnTo>
                    <a:pt x="1317768" y="752402"/>
                  </a:lnTo>
                  <a:lnTo>
                    <a:pt x="0" y="7524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-51575"/>
              </a:stretch>
            </a:blipFill>
            <a:ln>
              <a:noFill/>
            </a:ln>
          </p:spPr>
        </p:sp>
      </p:grpSp>
      <p:pic>
        <p:nvPicPr>
          <p:cNvPr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59165" y="5879425"/>
            <a:ext cx="6347224" cy="40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1028700" y="1123950"/>
            <a:ext cx="8115300" cy="2369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1836B2"/>
                </a:solidFill>
                <a:latin typeface="Asap"/>
                <a:ea typeface="Asap"/>
                <a:cs typeface="Asap"/>
                <a:sym typeface="Asap"/>
              </a:rPr>
              <a:t>What is a Bug in software testing?</a:t>
            </a:r>
            <a:endParaRPr b="1" i="0" sz="7000" u="none" cap="none" strike="noStrike">
              <a:solidFill>
                <a:srgbClr val="1836B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descr="clean generic logo" id="97" name="Google Shape;97;p2"/>
          <p:cNvSpPr/>
          <p:nvPr/>
        </p:nvSpPr>
        <p:spPr>
          <a:xfrm flipH="1">
            <a:off x="10788674" y="-2535890"/>
            <a:ext cx="8901106" cy="5082240"/>
          </a:xfrm>
          <a:custGeom>
            <a:rect b="b" l="l" r="r" t="t"/>
            <a:pathLst>
              <a:path extrusionOk="0" h="5082240" w="8901106">
                <a:moveTo>
                  <a:pt x="8901107" y="0"/>
                </a:moveTo>
                <a:lnTo>
                  <a:pt x="0" y="0"/>
                </a:lnTo>
                <a:lnTo>
                  <a:pt x="0" y="5082240"/>
                </a:lnTo>
                <a:lnTo>
                  <a:pt x="8901107" y="5082240"/>
                </a:lnTo>
                <a:lnTo>
                  <a:pt x="89011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51575"/>
            </a:stretch>
          </a:blip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1028700" y="6587635"/>
            <a:ext cx="6718157" cy="1753340"/>
            <a:chOff x="0" y="-9525"/>
            <a:chExt cx="8957542" cy="2337787"/>
          </a:xfrm>
        </p:grpSpPr>
        <p:sp>
          <p:nvSpPr>
            <p:cNvPr id="99" name="Google Shape;99;p2"/>
            <p:cNvSpPr txBox="1"/>
            <p:nvPr/>
          </p:nvSpPr>
          <p:spPr>
            <a:xfrm>
              <a:off x="0" y="-9525"/>
              <a:ext cx="8957542" cy="615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1" i="0" sz="3000" u="none" cap="none" strike="noStrike">
                <a:solidFill>
                  <a:srgbClr val="1836B2"/>
                </a:solidFill>
                <a:latin typeface="Asap"/>
                <a:ea typeface="Asap"/>
                <a:cs typeface="Asap"/>
                <a:sym typeface="Asap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1610289"/>
              <a:ext cx="8957542" cy="7179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endParaRPr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9810805" y="6587635"/>
            <a:ext cx="7004660" cy="1925845"/>
            <a:chOff x="0" y="-9525"/>
            <a:chExt cx="9339546" cy="2567793"/>
          </a:xfrm>
        </p:grpSpPr>
        <p:sp>
          <p:nvSpPr>
            <p:cNvPr id="102" name="Google Shape;102;p2"/>
            <p:cNvSpPr txBox="1"/>
            <p:nvPr/>
          </p:nvSpPr>
          <p:spPr>
            <a:xfrm>
              <a:off x="0" y="-9525"/>
              <a:ext cx="9339546" cy="615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1" i="0" sz="3000" u="none" cap="none" strike="noStrike">
                <a:solidFill>
                  <a:srgbClr val="1836B2"/>
                </a:solidFill>
                <a:latin typeface="Asap"/>
                <a:ea typeface="Asap"/>
                <a:cs typeface="Asap"/>
                <a:sym typeface="Asap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1840295"/>
              <a:ext cx="9339546" cy="7179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endParaRPr>
            </a:p>
          </p:txBody>
        </p:sp>
      </p:grpSp>
      <p:sp>
        <p:nvSpPr>
          <p:cNvPr id="104" name="Google Shape;104;p2"/>
          <p:cNvSpPr txBox="1"/>
          <p:nvPr/>
        </p:nvSpPr>
        <p:spPr>
          <a:xfrm>
            <a:off x="6109475" y="8601333"/>
            <a:ext cx="1106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A066CB"/>
                </a:solidFill>
                <a:latin typeface="Asap"/>
                <a:ea typeface="Asap"/>
                <a:cs typeface="Asap"/>
                <a:sym typeface="Asap"/>
              </a:rPr>
              <a:t>Expected Result ≠ Actual Result</a:t>
            </a:r>
            <a:endParaRPr b="1" i="0" sz="6000" u="none" cap="none" strike="noStrike">
              <a:solidFill>
                <a:srgbClr val="A066CB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3650" y="3634355"/>
            <a:ext cx="6936739" cy="4706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1156970" y="723900"/>
            <a:ext cx="15974060" cy="2623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50"/>
              <a:buFont typeface="Arial"/>
              <a:buNone/>
            </a:pPr>
            <a:r>
              <a:rPr b="1" i="0" lang="en-US" sz="7750" u="none" cap="none" strike="noStrike">
                <a:solidFill>
                  <a:srgbClr val="1836B2"/>
                </a:solidFill>
                <a:latin typeface="Asap"/>
                <a:ea typeface="Asap"/>
                <a:cs typeface="Asap"/>
                <a:sym typeface="Asap"/>
              </a:rPr>
              <a:t>What are failures called in software testing?</a:t>
            </a:r>
            <a:endParaRPr b="1" i="0" sz="7750" u="none" cap="none" strike="noStrike">
              <a:solidFill>
                <a:srgbClr val="1836B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descr="clean generic logo" id="111" name="Google Shape;111;p3"/>
          <p:cNvSpPr/>
          <p:nvPr/>
        </p:nvSpPr>
        <p:spPr>
          <a:xfrm flipH="1">
            <a:off x="-1979938" y="7033509"/>
            <a:ext cx="7793063" cy="4449583"/>
          </a:xfrm>
          <a:custGeom>
            <a:rect b="b" l="l" r="r" t="t"/>
            <a:pathLst>
              <a:path extrusionOk="0" h="4449583" w="7793063">
                <a:moveTo>
                  <a:pt x="7793062" y="0"/>
                </a:moveTo>
                <a:lnTo>
                  <a:pt x="0" y="0"/>
                </a:lnTo>
                <a:lnTo>
                  <a:pt x="0" y="4449582"/>
                </a:lnTo>
                <a:lnTo>
                  <a:pt x="7793062" y="4449582"/>
                </a:lnTo>
                <a:lnTo>
                  <a:pt x="779306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5157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5594350" y="3340100"/>
            <a:ext cx="4437300" cy="369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71500" lvl="0" marL="5715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1" i="0" lang="en-US" sz="4000" u="none" cap="none" strike="noStrike">
                <a:solidFill>
                  <a:srgbClr val="A066CB"/>
                </a:solidFill>
                <a:latin typeface="Asap"/>
                <a:ea typeface="Asap"/>
                <a:cs typeface="Asap"/>
                <a:sym typeface="Asap"/>
              </a:rPr>
              <a:t>Defect</a:t>
            </a:r>
            <a:endParaRPr b="1" i="0" sz="4000" u="none" cap="none" strike="noStrike">
              <a:solidFill>
                <a:srgbClr val="A066CB"/>
              </a:solidFill>
              <a:latin typeface="Asap"/>
              <a:ea typeface="Asap"/>
              <a:cs typeface="Asap"/>
              <a:sym typeface="Asap"/>
            </a:endParaRPr>
          </a:p>
          <a:p>
            <a:pPr indent="-571500" lvl="0" marL="5715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1" i="0" lang="en-US" sz="4000" u="none" cap="none" strike="noStrike">
                <a:solidFill>
                  <a:srgbClr val="A066CB"/>
                </a:solidFill>
                <a:latin typeface="Asap"/>
                <a:ea typeface="Asap"/>
                <a:cs typeface="Asap"/>
                <a:sym typeface="Asap"/>
              </a:rPr>
              <a:t>Bug</a:t>
            </a:r>
            <a:endParaRPr b="1" i="0" sz="4000" u="none" cap="none" strike="noStrike">
              <a:solidFill>
                <a:srgbClr val="A066CB"/>
              </a:solidFill>
              <a:latin typeface="Asap"/>
              <a:ea typeface="Asap"/>
              <a:cs typeface="Asap"/>
              <a:sym typeface="Asap"/>
            </a:endParaRPr>
          </a:p>
          <a:p>
            <a:pPr indent="-571500" lvl="0" marL="5715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1" i="0" lang="en-US" sz="4000" u="none" cap="none" strike="noStrike">
                <a:solidFill>
                  <a:srgbClr val="A066CB"/>
                </a:solidFill>
                <a:latin typeface="Asap"/>
                <a:ea typeface="Asap"/>
                <a:cs typeface="Asap"/>
                <a:sym typeface="Asap"/>
              </a:rPr>
              <a:t>Error</a:t>
            </a:r>
            <a:endParaRPr b="1" i="0" sz="4000" u="none" cap="none" strike="noStrike">
              <a:solidFill>
                <a:srgbClr val="A066CB"/>
              </a:solidFill>
              <a:latin typeface="Asap"/>
              <a:ea typeface="Asap"/>
              <a:cs typeface="Asap"/>
              <a:sym typeface="Asap"/>
            </a:endParaRPr>
          </a:p>
          <a:p>
            <a:pPr indent="-571500" lvl="0" marL="5715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1" i="0" lang="en-US" sz="4000" u="none" cap="none" strike="noStrike">
                <a:solidFill>
                  <a:srgbClr val="A066CB"/>
                </a:solidFill>
                <a:latin typeface="Asap"/>
                <a:ea typeface="Asap"/>
                <a:cs typeface="Asap"/>
                <a:sym typeface="Asap"/>
              </a:rPr>
              <a:t>Failure</a:t>
            </a:r>
            <a:endParaRPr b="1" i="0" sz="4000" u="none" cap="none" strike="noStrike">
              <a:solidFill>
                <a:srgbClr val="A066CB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4"/>
          <p:cNvGrpSpPr/>
          <p:nvPr/>
        </p:nvGrpSpPr>
        <p:grpSpPr>
          <a:xfrm>
            <a:off x="1868471" y="520068"/>
            <a:ext cx="5165590" cy="3087752"/>
            <a:chOff x="-150707" y="-2082588"/>
            <a:chExt cx="6887454" cy="4117002"/>
          </a:xfrm>
        </p:grpSpPr>
        <p:sp>
          <p:nvSpPr>
            <p:cNvPr id="118" name="Google Shape;118;p4"/>
            <p:cNvSpPr txBox="1"/>
            <p:nvPr/>
          </p:nvSpPr>
          <p:spPr>
            <a:xfrm>
              <a:off x="-150707" y="-2082588"/>
              <a:ext cx="6887454" cy="2639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75"/>
                <a:buFont typeface="Arial"/>
                <a:buNone/>
              </a:pPr>
              <a:r>
                <a:rPr b="1" i="0" lang="en-US" sz="8575" u="none" cap="none" strike="noStrike">
                  <a:solidFill>
                    <a:srgbClr val="A066CB"/>
                  </a:solidFill>
                  <a:latin typeface="Asap"/>
                  <a:ea typeface="Asap"/>
                  <a:cs typeface="Asap"/>
                  <a:sym typeface="Asap"/>
                </a:rPr>
                <a:t>Defect</a:t>
              </a:r>
              <a:endParaRPr b="1" i="0" sz="8575" u="none" cap="none" strike="noStrike">
                <a:solidFill>
                  <a:srgbClr val="1836B2"/>
                </a:solidFill>
                <a:latin typeface="Asap"/>
                <a:ea typeface="Asap"/>
                <a:cs typeface="Asap"/>
                <a:sym typeface="Asap"/>
              </a:endParaRPr>
            </a:p>
          </p:txBody>
        </p:sp>
        <p:sp>
          <p:nvSpPr>
            <p:cNvPr id="119" name="Google Shape;119;p4"/>
            <p:cNvSpPr txBox="1"/>
            <p:nvPr/>
          </p:nvSpPr>
          <p:spPr>
            <a:xfrm>
              <a:off x="-150707" y="1440054"/>
              <a:ext cx="6887454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t/>
              </a:r>
              <a:endParaRPr b="1" i="0" sz="2900" u="none" cap="none" strike="noStrike">
                <a:solidFill>
                  <a:srgbClr val="A066CB"/>
                </a:solidFill>
                <a:latin typeface="Asap"/>
                <a:ea typeface="Asap"/>
                <a:cs typeface="Asap"/>
                <a:sym typeface="Asap"/>
              </a:endParaRPr>
            </a:p>
          </p:txBody>
        </p:sp>
      </p:grpSp>
      <p:sp>
        <p:nvSpPr>
          <p:cNvPr id="120" name="Google Shape;120;p4"/>
          <p:cNvSpPr/>
          <p:nvPr/>
        </p:nvSpPr>
        <p:spPr>
          <a:xfrm rot="-5400000">
            <a:off x="-5143500" y="4372374"/>
            <a:ext cx="10287000" cy="1542251"/>
          </a:xfrm>
          <a:custGeom>
            <a:rect b="b" l="l" r="r" t="t"/>
            <a:pathLst>
              <a:path extrusionOk="0" h="5372100" w="35832548">
                <a:moveTo>
                  <a:pt x="3428188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34281880" y="5372100"/>
                </a:lnTo>
                <a:lnTo>
                  <a:pt x="35832548" y="2686050"/>
                </a:lnTo>
                <a:lnTo>
                  <a:pt x="34281880" y="0"/>
                </a:lnTo>
                <a:close/>
              </a:path>
            </a:pathLst>
          </a:custGeom>
          <a:solidFill>
            <a:srgbClr val="A066CB"/>
          </a:solidFill>
          <a:ln>
            <a:noFill/>
          </a:ln>
        </p:spPr>
      </p:sp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8475" y="2824575"/>
            <a:ext cx="5598160" cy="5106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/>
        </p:nvSpPr>
        <p:spPr>
          <a:xfrm>
            <a:off x="1868170" y="520065"/>
            <a:ext cx="5165725" cy="1979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75"/>
              <a:buFont typeface="Arial"/>
              <a:buNone/>
            </a:pPr>
            <a:r>
              <a:rPr b="1" i="0" lang="en-US" sz="8575" u="none" cap="none" strike="noStrike">
                <a:solidFill>
                  <a:srgbClr val="A066CB"/>
                </a:solidFill>
                <a:latin typeface="Asap"/>
                <a:ea typeface="Asap"/>
                <a:cs typeface="Asap"/>
                <a:sym typeface="Asap"/>
              </a:rPr>
              <a:t>Bug</a:t>
            </a:r>
            <a:endParaRPr b="1" i="0" sz="8575" u="none" cap="none" strike="noStrike">
              <a:solidFill>
                <a:srgbClr val="1836B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27" name="Google Shape;127;p5"/>
          <p:cNvSpPr/>
          <p:nvPr/>
        </p:nvSpPr>
        <p:spPr>
          <a:xfrm rot="-5400000">
            <a:off x="-5143500" y="4372374"/>
            <a:ext cx="10287000" cy="1542251"/>
          </a:xfrm>
          <a:custGeom>
            <a:rect b="b" l="l" r="r" t="t"/>
            <a:pathLst>
              <a:path extrusionOk="0" h="5372100" w="35832548">
                <a:moveTo>
                  <a:pt x="3428188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34281880" y="5372100"/>
                </a:lnTo>
                <a:lnTo>
                  <a:pt x="35832548" y="2686050"/>
                </a:lnTo>
                <a:lnTo>
                  <a:pt x="34281880" y="0"/>
                </a:lnTo>
                <a:close/>
              </a:path>
            </a:pathLst>
          </a:custGeom>
          <a:solidFill>
            <a:srgbClr val="A066CB"/>
          </a:solidFill>
          <a:ln>
            <a:noFill/>
          </a:ln>
        </p:spPr>
      </p:sp>
      <p:pic>
        <p:nvPicPr>
          <p:cNvPr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20065"/>
            <a:ext cx="9271000" cy="4065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1695" y="4995925"/>
            <a:ext cx="7400291" cy="3052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/>
        </p:nvSpPr>
        <p:spPr>
          <a:xfrm>
            <a:off x="1868170" y="520065"/>
            <a:ext cx="5165725" cy="1979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75"/>
              <a:buFont typeface="Arial"/>
              <a:buNone/>
            </a:pPr>
            <a:r>
              <a:rPr b="1" i="0" lang="en-US" sz="8575" u="none" cap="none" strike="noStrike">
                <a:solidFill>
                  <a:srgbClr val="A066CB"/>
                </a:solidFill>
                <a:latin typeface="Asap"/>
                <a:ea typeface="Asap"/>
                <a:cs typeface="Asap"/>
                <a:sym typeface="Asap"/>
              </a:rPr>
              <a:t>Error</a:t>
            </a:r>
            <a:endParaRPr b="1" i="0" sz="8575" u="none" cap="none" strike="noStrike">
              <a:solidFill>
                <a:srgbClr val="1836B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35" name="Google Shape;135;p6"/>
          <p:cNvSpPr/>
          <p:nvPr/>
        </p:nvSpPr>
        <p:spPr>
          <a:xfrm rot="-5400000">
            <a:off x="-5143500" y="4372374"/>
            <a:ext cx="10287000" cy="1542251"/>
          </a:xfrm>
          <a:custGeom>
            <a:rect b="b" l="l" r="r" t="t"/>
            <a:pathLst>
              <a:path extrusionOk="0" h="5372100" w="35832548">
                <a:moveTo>
                  <a:pt x="3428188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34281880" y="5372100"/>
                </a:lnTo>
                <a:lnTo>
                  <a:pt x="35832548" y="2686050"/>
                </a:lnTo>
                <a:lnTo>
                  <a:pt x="34281880" y="0"/>
                </a:lnTo>
                <a:close/>
              </a:path>
            </a:pathLst>
          </a:custGeom>
          <a:solidFill>
            <a:srgbClr val="A066CB"/>
          </a:solidFill>
          <a:ln>
            <a:noFill/>
          </a:ln>
        </p:spPr>
      </p:sp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1409700"/>
            <a:ext cx="8257540" cy="3639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8170" y="5143500"/>
            <a:ext cx="8460105" cy="4717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/>
        </p:nvSpPr>
        <p:spPr>
          <a:xfrm>
            <a:off x="1868170" y="520065"/>
            <a:ext cx="5165725" cy="1979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75"/>
              <a:buFont typeface="Arial"/>
              <a:buNone/>
            </a:pPr>
            <a:r>
              <a:rPr b="1" i="0" lang="en-US" sz="8575" u="none" cap="none" strike="noStrike">
                <a:solidFill>
                  <a:srgbClr val="A066CB"/>
                </a:solidFill>
                <a:latin typeface="Asap"/>
                <a:ea typeface="Asap"/>
                <a:cs typeface="Asap"/>
                <a:sym typeface="Asap"/>
              </a:rPr>
              <a:t>Failure</a:t>
            </a:r>
            <a:endParaRPr b="1" i="0" sz="8575" u="none" cap="none" strike="noStrike">
              <a:solidFill>
                <a:srgbClr val="1836B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43" name="Google Shape;143;p7"/>
          <p:cNvSpPr/>
          <p:nvPr/>
        </p:nvSpPr>
        <p:spPr>
          <a:xfrm rot="-5400000">
            <a:off x="-5143500" y="4372374"/>
            <a:ext cx="10287000" cy="1542251"/>
          </a:xfrm>
          <a:custGeom>
            <a:rect b="b" l="l" r="r" t="t"/>
            <a:pathLst>
              <a:path extrusionOk="0" h="5372100" w="35832548">
                <a:moveTo>
                  <a:pt x="3428188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34281880" y="5372100"/>
                </a:lnTo>
                <a:lnTo>
                  <a:pt x="35832548" y="2686050"/>
                </a:lnTo>
                <a:lnTo>
                  <a:pt x="34281880" y="0"/>
                </a:lnTo>
                <a:close/>
              </a:path>
            </a:pathLst>
          </a:custGeom>
          <a:solidFill>
            <a:srgbClr val="A066CB"/>
          </a:solidFill>
          <a:ln>
            <a:noFill/>
          </a:ln>
        </p:spPr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8485" y="1333500"/>
            <a:ext cx="6619875" cy="4413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0" y="4305300"/>
            <a:ext cx="6459855" cy="4751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/>
        </p:nvSpPr>
        <p:spPr>
          <a:xfrm>
            <a:off x="1295400" y="1181100"/>
            <a:ext cx="8839835" cy="1227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1836B2"/>
                </a:solidFill>
                <a:latin typeface="Asap"/>
                <a:ea typeface="Asap"/>
                <a:cs typeface="Asap"/>
                <a:sym typeface="Asap"/>
              </a:rPr>
              <a:t>What is life cycle?</a:t>
            </a:r>
            <a:endParaRPr b="1" i="0" sz="7000" u="none" cap="none" strike="noStrike">
              <a:solidFill>
                <a:srgbClr val="1836B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51" name="Google Shape;151;p8"/>
          <p:cNvSpPr/>
          <p:nvPr/>
        </p:nvSpPr>
        <p:spPr>
          <a:xfrm rot="-5400000">
            <a:off x="13144500" y="4372374"/>
            <a:ext cx="10287000" cy="1542251"/>
          </a:xfrm>
          <a:custGeom>
            <a:rect b="b" l="l" r="r" t="t"/>
            <a:pathLst>
              <a:path extrusionOk="0" h="5372100" w="35832548">
                <a:moveTo>
                  <a:pt x="3428188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34281880" y="5372100"/>
                </a:lnTo>
                <a:lnTo>
                  <a:pt x="35832548" y="2686050"/>
                </a:lnTo>
                <a:lnTo>
                  <a:pt x="34281880" y="0"/>
                </a:lnTo>
                <a:close/>
              </a:path>
            </a:pathLst>
          </a:custGeom>
          <a:solidFill>
            <a:srgbClr val="A066CB"/>
          </a:solidFill>
          <a:ln>
            <a:noFill/>
          </a:ln>
        </p:spPr>
      </p:sp>
      <p:pic>
        <p:nvPicPr>
          <p:cNvPr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9675" y="3239770"/>
            <a:ext cx="5466715" cy="3807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/>
        </p:nvSpPr>
        <p:spPr>
          <a:xfrm>
            <a:off x="1295400" y="1181100"/>
            <a:ext cx="5262880" cy="1022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1836B2"/>
                </a:solidFill>
                <a:latin typeface="Asap"/>
                <a:ea typeface="Asap"/>
                <a:cs typeface="Asap"/>
                <a:sym typeface="Asap"/>
              </a:rPr>
              <a:t>Bug life cycle</a:t>
            </a:r>
            <a:endParaRPr b="1" i="0" sz="7000" u="none" cap="none" strike="noStrike">
              <a:solidFill>
                <a:srgbClr val="1836B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58" name="Google Shape;158;p9"/>
          <p:cNvSpPr/>
          <p:nvPr/>
        </p:nvSpPr>
        <p:spPr>
          <a:xfrm rot="-5400000">
            <a:off x="13144500" y="4372374"/>
            <a:ext cx="10287000" cy="1542251"/>
          </a:xfrm>
          <a:custGeom>
            <a:rect b="b" l="l" r="r" t="t"/>
            <a:pathLst>
              <a:path extrusionOk="0" h="5372100" w="35832548">
                <a:moveTo>
                  <a:pt x="3428188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34281880" y="5372100"/>
                </a:lnTo>
                <a:lnTo>
                  <a:pt x="35832548" y="2686050"/>
                </a:lnTo>
                <a:lnTo>
                  <a:pt x="34281880" y="0"/>
                </a:lnTo>
                <a:close/>
              </a:path>
            </a:pathLst>
          </a:custGeom>
          <a:solidFill>
            <a:srgbClr val="A066CB"/>
          </a:solidFill>
          <a:ln>
            <a:noFill/>
          </a:ln>
        </p:spPr>
      </p:sp>
      <p:pic>
        <p:nvPicPr>
          <p:cNvPr descr="Bug-Defect-life-cycle" id="159" name="Google Shape;1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8495" y="181610"/>
            <a:ext cx="6624320" cy="977836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 txBox="1"/>
          <p:nvPr/>
        </p:nvSpPr>
        <p:spPr>
          <a:xfrm>
            <a:off x="1295435" y="3635150"/>
            <a:ext cx="613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836B2"/>
                </a:solidFill>
                <a:latin typeface="Asap"/>
                <a:ea typeface="Asap"/>
                <a:cs typeface="Asap"/>
                <a:sym typeface="Asap"/>
              </a:rPr>
              <a:t>What is a bug life cycle?</a:t>
            </a:r>
            <a:endParaRPr b="1" i="0" sz="4000" u="none" cap="none" strike="noStrike">
              <a:solidFill>
                <a:srgbClr val="1836B2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 txBox="1"/>
          <p:nvPr/>
        </p:nvSpPr>
        <p:spPr>
          <a:xfrm>
            <a:off x="1028700" y="1123950"/>
            <a:ext cx="8782200" cy="2369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1836B2"/>
                </a:solidFill>
                <a:latin typeface="Asap"/>
                <a:ea typeface="Asap"/>
                <a:cs typeface="Asap"/>
                <a:sym typeface="Asap"/>
              </a:rPr>
              <a:t>Importance of Bug Detection</a:t>
            </a:r>
            <a:endParaRPr b="1" i="0" sz="7000" u="none" cap="none" strike="noStrike">
              <a:solidFill>
                <a:srgbClr val="1836B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descr="clean generic logo" id="166" name="Google Shape;166;p10"/>
          <p:cNvSpPr/>
          <p:nvPr/>
        </p:nvSpPr>
        <p:spPr>
          <a:xfrm flipH="1">
            <a:off x="10788674" y="-2535890"/>
            <a:ext cx="8901106" cy="5082240"/>
          </a:xfrm>
          <a:custGeom>
            <a:rect b="b" l="l" r="r" t="t"/>
            <a:pathLst>
              <a:path extrusionOk="0" h="5082240" w="8901106">
                <a:moveTo>
                  <a:pt x="8901107" y="0"/>
                </a:moveTo>
                <a:lnTo>
                  <a:pt x="0" y="0"/>
                </a:lnTo>
                <a:lnTo>
                  <a:pt x="0" y="5082240"/>
                </a:lnTo>
                <a:lnTo>
                  <a:pt x="8901107" y="5082240"/>
                </a:lnTo>
                <a:lnTo>
                  <a:pt x="89011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51575"/>
            </a:stretch>
          </a:blipFill>
          <a:ln>
            <a:noFill/>
          </a:ln>
        </p:spPr>
      </p:sp>
      <p:grpSp>
        <p:nvGrpSpPr>
          <p:cNvPr id="167" name="Google Shape;167;p10"/>
          <p:cNvGrpSpPr/>
          <p:nvPr/>
        </p:nvGrpSpPr>
        <p:grpSpPr>
          <a:xfrm>
            <a:off x="1028700" y="6587635"/>
            <a:ext cx="6718157" cy="1753340"/>
            <a:chOff x="0" y="-9525"/>
            <a:chExt cx="8957542" cy="2337787"/>
          </a:xfrm>
        </p:grpSpPr>
        <p:sp>
          <p:nvSpPr>
            <p:cNvPr id="168" name="Google Shape;168;p10"/>
            <p:cNvSpPr txBox="1"/>
            <p:nvPr/>
          </p:nvSpPr>
          <p:spPr>
            <a:xfrm>
              <a:off x="0" y="-9525"/>
              <a:ext cx="8957542" cy="615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1" i="0" sz="3000" u="none" cap="none" strike="noStrike">
                <a:solidFill>
                  <a:srgbClr val="1836B2"/>
                </a:solidFill>
                <a:latin typeface="Asap"/>
                <a:ea typeface="Asap"/>
                <a:cs typeface="Asap"/>
                <a:sym typeface="Asap"/>
              </a:endParaRPr>
            </a:p>
          </p:txBody>
        </p:sp>
        <p:sp>
          <p:nvSpPr>
            <p:cNvPr id="169" name="Google Shape;169;p10"/>
            <p:cNvSpPr txBox="1"/>
            <p:nvPr/>
          </p:nvSpPr>
          <p:spPr>
            <a:xfrm>
              <a:off x="0" y="1610289"/>
              <a:ext cx="8957542" cy="7179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endParaRPr>
            </a:p>
          </p:txBody>
        </p:sp>
      </p:grpSp>
      <p:sp>
        <p:nvSpPr>
          <p:cNvPr id="170" name="Google Shape;170;p10"/>
          <p:cNvSpPr txBox="1"/>
          <p:nvPr/>
        </p:nvSpPr>
        <p:spPr>
          <a:xfrm>
            <a:off x="1028700" y="3916045"/>
            <a:ext cx="10278745" cy="3697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A066CB"/>
                </a:solidFill>
                <a:latin typeface="Asap"/>
                <a:ea typeface="Asap"/>
                <a:cs typeface="Asap"/>
                <a:sym typeface="Asap"/>
              </a:rPr>
              <a:t>Ensures software quality</a:t>
            </a:r>
            <a:endParaRPr b="1" i="0" sz="3000" u="none" cap="none" strike="noStrike">
              <a:solidFill>
                <a:srgbClr val="A066CB"/>
              </a:solidFill>
              <a:latin typeface="Asap"/>
              <a:ea typeface="Asap"/>
              <a:cs typeface="Asap"/>
              <a:sym typeface="Asap"/>
            </a:endParaRPr>
          </a:p>
          <a:p>
            <a:pPr indent="-457200" lvl="0" marL="457200" marR="0" rtl="0" algn="l">
              <a:lnSpc>
                <a:spcPct val="1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A066CB"/>
                </a:solidFill>
                <a:latin typeface="Asap"/>
                <a:ea typeface="Asap"/>
                <a:cs typeface="Asap"/>
                <a:sym typeface="Asap"/>
              </a:rPr>
              <a:t>Improves user experience (UX)</a:t>
            </a:r>
            <a:endParaRPr b="1" i="0" sz="3000" u="none" cap="none" strike="noStrike">
              <a:solidFill>
                <a:srgbClr val="A066CB"/>
              </a:solidFill>
              <a:latin typeface="Asap"/>
              <a:ea typeface="Asap"/>
              <a:cs typeface="Asap"/>
              <a:sym typeface="Asap"/>
            </a:endParaRPr>
          </a:p>
          <a:p>
            <a:pPr indent="-457200" lvl="0" marL="457200" marR="0" rtl="0" algn="l">
              <a:lnSpc>
                <a:spcPct val="1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A066CB"/>
                </a:solidFill>
                <a:latin typeface="Asap"/>
                <a:ea typeface="Asap"/>
                <a:cs typeface="Asap"/>
                <a:sym typeface="Asap"/>
              </a:rPr>
              <a:t>Reduces system risks and failure</a:t>
            </a:r>
            <a:endParaRPr b="1" i="0" sz="3000" u="none" cap="none" strike="noStrike">
              <a:solidFill>
                <a:srgbClr val="A066CB"/>
              </a:solidFill>
              <a:latin typeface="Asap"/>
              <a:ea typeface="Asap"/>
              <a:cs typeface="Asap"/>
              <a:sym typeface="Asap"/>
            </a:endParaRPr>
          </a:p>
          <a:p>
            <a:pPr indent="-457200" lvl="0" marL="457200" marR="0" rtl="0" algn="l">
              <a:lnSpc>
                <a:spcPct val="1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A066CB"/>
                </a:solidFill>
                <a:latin typeface="Asap"/>
                <a:ea typeface="Asap"/>
                <a:cs typeface="Asap"/>
                <a:sym typeface="Asap"/>
              </a:rPr>
              <a:t>Saves development and maintenance costs</a:t>
            </a:r>
            <a:endParaRPr b="1" i="0" sz="3000" u="none" cap="none" strike="noStrike">
              <a:solidFill>
                <a:srgbClr val="A066CB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 txBox="1"/>
          <p:nvPr/>
        </p:nvSpPr>
        <p:spPr>
          <a:xfrm>
            <a:off x="5638800" y="3848100"/>
            <a:ext cx="6233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1836B2"/>
                </a:solidFill>
                <a:latin typeface="Asap"/>
                <a:ea typeface="Asap"/>
                <a:cs typeface="Asap"/>
                <a:sym typeface="Asap"/>
              </a:rPr>
              <a:t>Any questions?</a:t>
            </a:r>
            <a:endParaRPr b="1" i="0" sz="7000" u="none" cap="none" strike="noStrike">
              <a:solidFill>
                <a:srgbClr val="1836B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76" name="Google Shape;176;p11"/>
          <p:cNvSpPr/>
          <p:nvPr/>
        </p:nvSpPr>
        <p:spPr>
          <a:xfrm rot="-5400000">
            <a:off x="13144500" y="4372374"/>
            <a:ext cx="10287000" cy="1542251"/>
          </a:xfrm>
          <a:custGeom>
            <a:rect b="b" l="l" r="r" t="t"/>
            <a:pathLst>
              <a:path extrusionOk="0" h="5372100" w="35832548">
                <a:moveTo>
                  <a:pt x="3428188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34281880" y="5372100"/>
                </a:lnTo>
                <a:lnTo>
                  <a:pt x="35832548" y="2686050"/>
                </a:lnTo>
                <a:lnTo>
                  <a:pt x="34281880" y="0"/>
                </a:lnTo>
                <a:close/>
              </a:path>
            </a:pathLst>
          </a:custGeom>
          <a:solidFill>
            <a:srgbClr val="A066CB"/>
          </a:solid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36B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/>
          <p:nvPr/>
        </p:nvSpPr>
        <p:spPr>
          <a:xfrm rot="10800000">
            <a:off x="7580028" y="1940485"/>
            <a:ext cx="15443715" cy="13375700"/>
          </a:xfrm>
          <a:custGeom>
            <a:rect b="b" l="l" r="r" t="t"/>
            <a:pathLst>
              <a:path extrusionOk="0" h="5372100" w="6202680">
                <a:moveTo>
                  <a:pt x="465201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652010" y="5372100"/>
                </a:lnTo>
                <a:lnTo>
                  <a:pt x="6202680" y="2686050"/>
                </a:lnTo>
                <a:lnTo>
                  <a:pt x="4652010" y="0"/>
                </a:lnTo>
                <a:close/>
              </a:path>
            </a:pathLst>
          </a:custGeom>
          <a:solidFill>
            <a:srgbClr val="A066CB"/>
          </a:solidFill>
          <a:ln>
            <a:noFill/>
          </a:ln>
        </p:spPr>
      </p:sp>
      <p:sp>
        <p:nvSpPr>
          <p:cNvPr id="182" name="Google Shape;182;p12"/>
          <p:cNvSpPr/>
          <p:nvPr/>
        </p:nvSpPr>
        <p:spPr>
          <a:xfrm>
            <a:off x="-3874181" y="-4557408"/>
            <a:ext cx="15347817" cy="13290518"/>
          </a:xfrm>
          <a:custGeom>
            <a:rect b="b" l="l" r="r" t="t"/>
            <a:pathLst>
              <a:path extrusionOk="0" h="3708400" w="4282440">
                <a:moveTo>
                  <a:pt x="3211830" y="0"/>
                </a:moveTo>
                <a:lnTo>
                  <a:pt x="1070610" y="0"/>
                </a:lnTo>
                <a:lnTo>
                  <a:pt x="0" y="1854200"/>
                </a:lnTo>
                <a:lnTo>
                  <a:pt x="1070610" y="3708400"/>
                </a:lnTo>
                <a:lnTo>
                  <a:pt x="3211830" y="3708400"/>
                </a:lnTo>
                <a:lnTo>
                  <a:pt x="4282440" y="18542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4945" r="-14945" t="0"/>
            </a:stretch>
          </a:blipFill>
          <a:ln>
            <a:noFill/>
          </a:ln>
        </p:spPr>
      </p:sp>
      <p:sp>
        <p:nvSpPr>
          <p:cNvPr id="183" name="Google Shape;183;p12"/>
          <p:cNvSpPr/>
          <p:nvPr/>
        </p:nvSpPr>
        <p:spPr>
          <a:xfrm rot="10800000">
            <a:off x="8066955" y="-9639018"/>
            <a:ext cx="14137802" cy="11726869"/>
          </a:xfrm>
          <a:custGeom>
            <a:rect b="b" l="l" r="r" t="t"/>
            <a:pathLst>
              <a:path extrusionOk="0" h="5372100" w="6476553">
                <a:moveTo>
                  <a:pt x="4925883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925883" y="5372100"/>
                </a:lnTo>
                <a:lnTo>
                  <a:pt x="6476553" y="2686050"/>
                </a:lnTo>
                <a:lnTo>
                  <a:pt x="492588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descr="clean generic logo" id="184" name="Google Shape;184;p12"/>
          <p:cNvSpPr/>
          <p:nvPr/>
        </p:nvSpPr>
        <p:spPr>
          <a:xfrm>
            <a:off x="16065550" y="715096"/>
            <a:ext cx="1098500" cy="627207"/>
          </a:xfrm>
          <a:custGeom>
            <a:rect b="b" l="l" r="r" t="t"/>
            <a:pathLst>
              <a:path extrusionOk="0" h="627207" w="1098500">
                <a:moveTo>
                  <a:pt x="0" y="0"/>
                </a:moveTo>
                <a:lnTo>
                  <a:pt x="1098500" y="0"/>
                </a:lnTo>
                <a:lnTo>
                  <a:pt x="1098500" y="627208"/>
                </a:lnTo>
                <a:lnTo>
                  <a:pt x="0" y="6272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-51575"/>
            </a:stretch>
          </a:blipFill>
          <a:ln>
            <a:noFill/>
          </a:ln>
        </p:spPr>
      </p:sp>
      <p:sp>
        <p:nvSpPr>
          <p:cNvPr id="185" name="Google Shape;185;p12"/>
          <p:cNvSpPr txBox="1"/>
          <p:nvPr/>
        </p:nvSpPr>
        <p:spPr>
          <a:xfrm>
            <a:off x="9547860" y="5491480"/>
            <a:ext cx="10031095" cy="1410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b="1" i="0" lang="en-US" sz="100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Thank you!</a:t>
            </a:r>
            <a:endParaRPr b="1" i="0" sz="100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2026-03-07T07:11:00Z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06D462B17E7749498721FD00F917E9E5_12</vt:lpwstr>
  </property>
  <property fmtid="{D5CDD505-2E9C-101B-9397-08002B2CF9AE}" pid="3" name="KSOProductBuildVer">
    <vt:lpwstr>1033-12.1.0.25180</vt:lpwstr>
  </property>
</Properties>
</file>