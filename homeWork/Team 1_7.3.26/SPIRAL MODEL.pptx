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6858000" cy="9144000"/>
  <p:embeddedFontLst>
    <p:embeddedFont>
      <p:font typeface="Alegreya"/>
      <p:bold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7" roundtripDataSignature="AMtx7mib28kWVz/XYe0tEjoWiYcIuvTx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Alegreya-bold.fntdata"/><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font" Target="fonts/Alegrey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203" l="-220" r="-1696" t="-9510"/>
            </a:stretch>
          </a:blipFill>
          <a:ln>
            <a:noFill/>
          </a:ln>
        </p:spPr>
      </p:sp>
      <p:sp>
        <p:nvSpPr>
          <p:cNvPr id="85" name="Google Shape;85;p1"/>
          <p:cNvSpPr txBox="1"/>
          <p:nvPr/>
        </p:nvSpPr>
        <p:spPr>
          <a:xfrm>
            <a:off x="1761580" y="2569733"/>
            <a:ext cx="14764800" cy="3693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US" sz="9999" u="none" cap="none" strike="noStrike">
                <a:solidFill>
                  <a:srgbClr val="000000"/>
                </a:solidFill>
                <a:latin typeface="Arial"/>
                <a:ea typeface="Arial"/>
                <a:cs typeface="Arial"/>
                <a:sym typeface="Arial"/>
              </a:rPr>
              <a:t>T</a:t>
            </a:r>
            <a:r>
              <a:rPr lang="en-US" sz="9999"/>
              <a:t>e</a:t>
            </a:r>
            <a:r>
              <a:rPr b="0" i="0" lang="en-US" sz="9999" u="none" cap="none" strike="noStrike">
                <a:solidFill>
                  <a:srgbClr val="000000"/>
                </a:solidFill>
                <a:latin typeface="Arial"/>
                <a:ea typeface="Arial"/>
                <a:cs typeface="Arial"/>
                <a:sym typeface="Arial"/>
              </a:rPr>
              <a:t>sting within software development models</a:t>
            </a:r>
            <a:endParaRPr/>
          </a:p>
        </p:txBody>
      </p:sp>
      <p:sp>
        <p:nvSpPr>
          <p:cNvPr id="86" name="Google Shape;86;p1"/>
          <p:cNvSpPr txBox="1"/>
          <p:nvPr/>
        </p:nvSpPr>
        <p:spPr>
          <a:xfrm>
            <a:off x="2831326" y="6694268"/>
            <a:ext cx="12625348" cy="98780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735" u="none" cap="none" strike="noStrike">
                <a:solidFill>
                  <a:srgbClr val="000000"/>
                </a:solidFill>
                <a:latin typeface="Alegreya"/>
                <a:ea typeface="Alegreya"/>
                <a:cs typeface="Alegreya"/>
                <a:sym typeface="Alegreya"/>
              </a:rPr>
              <a:t>Team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203" l="-220" r="-1696" t="-9510"/>
            </a:stretch>
          </a:blipFill>
          <a:ln>
            <a:noFill/>
          </a:ln>
        </p:spPr>
      </p:sp>
      <p:sp>
        <p:nvSpPr>
          <p:cNvPr id="92" name="Google Shape;92;p2"/>
          <p:cNvSpPr/>
          <p:nvPr/>
        </p:nvSpPr>
        <p:spPr>
          <a:xfrm>
            <a:off x="2269002" y="2577107"/>
            <a:ext cx="13749996" cy="7709893"/>
          </a:xfrm>
          <a:custGeom>
            <a:rect b="b" l="l" r="r" t="t"/>
            <a:pathLst>
              <a:path extrusionOk="0" h="7709893" w="13749996">
                <a:moveTo>
                  <a:pt x="0" y="0"/>
                </a:moveTo>
                <a:lnTo>
                  <a:pt x="13749996" y="0"/>
                </a:lnTo>
                <a:lnTo>
                  <a:pt x="13749996" y="7709893"/>
                </a:lnTo>
                <a:lnTo>
                  <a:pt x="0" y="7709893"/>
                </a:lnTo>
                <a:lnTo>
                  <a:pt x="0" y="0"/>
                </a:lnTo>
                <a:close/>
              </a:path>
            </a:pathLst>
          </a:custGeom>
          <a:blipFill rotWithShape="1">
            <a:blip r:embed="rId4">
              <a:alphaModFix/>
            </a:blip>
            <a:stretch>
              <a:fillRect b="0" l="0" r="0" t="0"/>
            </a:stretch>
          </a:blipFill>
          <a:ln>
            <a:noFill/>
          </a:ln>
        </p:spPr>
      </p:sp>
      <p:sp>
        <p:nvSpPr>
          <p:cNvPr id="93" name="Google Shape;93;p2"/>
          <p:cNvSpPr txBox="1"/>
          <p:nvPr/>
        </p:nvSpPr>
        <p:spPr>
          <a:xfrm>
            <a:off x="3918390" y="857250"/>
            <a:ext cx="10451219" cy="1420496"/>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US" sz="8199" u="none" cap="none" strike="noStrike">
                <a:solidFill>
                  <a:srgbClr val="000000"/>
                </a:solidFill>
                <a:latin typeface="Arial"/>
                <a:ea typeface="Arial"/>
                <a:cs typeface="Arial"/>
                <a:sym typeface="Arial"/>
              </a:rPr>
              <a:t>PROTOTYPE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203" l="-220" r="-1696" t="-9510"/>
            </a:stretch>
          </a:blipFill>
          <a:ln>
            <a:noFill/>
          </a:ln>
        </p:spPr>
      </p:sp>
      <p:sp>
        <p:nvSpPr>
          <p:cNvPr id="99" name="Google Shape;99;p3"/>
          <p:cNvSpPr/>
          <p:nvPr/>
        </p:nvSpPr>
        <p:spPr>
          <a:xfrm>
            <a:off x="8779700" y="2439676"/>
            <a:ext cx="9247626" cy="6430341"/>
          </a:xfrm>
          <a:custGeom>
            <a:rect b="b" l="l" r="r" t="t"/>
            <a:pathLst>
              <a:path extrusionOk="0" h="5665499" w="8503564">
                <a:moveTo>
                  <a:pt x="0" y="0"/>
                </a:moveTo>
                <a:lnTo>
                  <a:pt x="8503564" y="0"/>
                </a:lnTo>
                <a:lnTo>
                  <a:pt x="8503564" y="5665499"/>
                </a:lnTo>
                <a:lnTo>
                  <a:pt x="0" y="5665499"/>
                </a:lnTo>
                <a:lnTo>
                  <a:pt x="0" y="0"/>
                </a:lnTo>
                <a:close/>
              </a:path>
            </a:pathLst>
          </a:custGeom>
          <a:blipFill rotWithShape="1">
            <a:blip r:embed="rId4">
              <a:alphaModFix/>
            </a:blip>
            <a:stretch>
              <a:fillRect b="0" l="0" r="0" t="0"/>
            </a:stretch>
          </a:blipFill>
          <a:ln>
            <a:noFill/>
          </a:ln>
        </p:spPr>
      </p:sp>
      <p:grpSp>
        <p:nvGrpSpPr>
          <p:cNvPr id="100" name="Google Shape;100;p3"/>
          <p:cNvGrpSpPr/>
          <p:nvPr/>
        </p:nvGrpSpPr>
        <p:grpSpPr>
          <a:xfrm>
            <a:off x="313893" y="1712364"/>
            <a:ext cx="8282202" cy="7863588"/>
            <a:chOff x="1028700" y="1712364"/>
            <a:chExt cx="8282202" cy="7863588"/>
          </a:xfrm>
        </p:grpSpPr>
        <p:grpSp>
          <p:nvGrpSpPr>
            <p:cNvPr id="101" name="Google Shape;101;p3"/>
            <p:cNvGrpSpPr/>
            <p:nvPr/>
          </p:nvGrpSpPr>
          <p:grpSpPr>
            <a:xfrm>
              <a:off x="1028700" y="1712364"/>
              <a:ext cx="8282202" cy="7863588"/>
              <a:chOff x="0" y="-38100"/>
              <a:chExt cx="2181321" cy="2071068"/>
            </a:xfrm>
          </p:grpSpPr>
          <p:sp>
            <p:nvSpPr>
              <p:cNvPr id="102" name="Google Shape;102;p3"/>
              <p:cNvSpPr/>
              <p:nvPr/>
            </p:nvSpPr>
            <p:spPr>
              <a:xfrm>
                <a:off x="0" y="0"/>
                <a:ext cx="2181321" cy="2032968"/>
              </a:xfrm>
              <a:custGeom>
                <a:rect b="b" l="l" r="r" t="t"/>
                <a:pathLst>
                  <a:path extrusionOk="0" h="2032968" w="2181321">
                    <a:moveTo>
                      <a:pt x="47673" y="0"/>
                    </a:moveTo>
                    <a:lnTo>
                      <a:pt x="2133648" y="0"/>
                    </a:lnTo>
                    <a:cubicBezTo>
                      <a:pt x="2159977" y="0"/>
                      <a:pt x="2181321" y="21344"/>
                      <a:pt x="2181321" y="47673"/>
                    </a:cubicBezTo>
                    <a:lnTo>
                      <a:pt x="2181321" y="1985295"/>
                    </a:lnTo>
                    <a:cubicBezTo>
                      <a:pt x="2181321" y="2011624"/>
                      <a:pt x="2159977" y="2032968"/>
                      <a:pt x="2133648" y="2032968"/>
                    </a:cubicBezTo>
                    <a:lnTo>
                      <a:pt x="47673" y="2032968"/>
                    </a:lnTo>
                    <a:cubicBezTo>
                      <a:pt x="21344" y="2032968"/>
                      <a:pt x="0" y="2011624"/>
                      <a:pt x="0" y="1985295"/>
                    </a:cubicBezTo>
                    <a:lnTo>
                      <a:pt x="0" y="47673"/>
                    </a:lnTo>
                    <a:cubicBezTo>
                      <a:pt x="0" y="21344"/>
                      <a:pt x="21344" y="0"/>
                      <a:pt x="47673" y="0"/>
                    </a:cubicBezTo>
                    <a:close/>
                  </a:path>
                </a:pathLst>
              </a:custGeom>
              <a:solidFill>
                <a:srgbClr val="FFFFFF"/>
              </a:solidFill>
              <a:ln cap="rnd" cmpd="sng" w="38100">
                <a:solidFill>
                  <a:srgbClr val="000000"/>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txBox="1"/>
              <p:nvPr/>
            </p:nvSpPr>
            <p:spPr>
              <a:xfrm>
                <a:off x="0" y="-38100"/>
                <a:ext cx="2181321" cy="207106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4" name="Google Shape;104;p3"/>
            <p:cNvSpPr txBox="1"/>
            <p:nvPr/>
          </p:nvSpPr>
          <p:spPr>
            <a:xfrm>
              <a:off x="1305300" y="2268725"/>
              <a:ext cx="7676400" cy="6926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4500">
                  <a:latin typeface="Alegreya"/>
                  <a:ea typeface="Alegreya"/>
                  <a:cs typeface="Alegreya"/>
                  <a:sym typeface="Alegreya"/>
                </a:rPr>
                <a:t>The Spiral Model is one of the most important SDLC models, combining the</a:t>
              </a:r>
              <a:r>
                <a:rPr b="1" lang="en-US" sz="4500">
                  <a:latin typeface="Alegreya"/>
                  <a:ea typeface="Alegreya"/>
                  <a:cs typeface="Alegreya"/>
                  <a:sym typeface="Alegreya"/>
                </a:rPr>
                <a:t> </a:t>
              </a:r>
              <a:r>
                <a:rPr b="1" lang="en-US" sz="4500">
                  <a:latin typeface="Alegreya"/>
                  <a:ea typeface="Alegreya"/>
                  <a:cs typeface="Alegreya"/>
                  <a:sym typeface="Alegreya"/>
                </a:rPr>
                <a:t>structured approach of the Waterfall Model with the flexibility of the Iterative Model. It is mainly used for risk handling in large and complex projects. The Spiral Model was proposed by Barry Boehm.</a:t>
              </a:r>
              <a:endParaRPr b="1" sz="4500">
                <a:latin typeface="Alegreya"/>
                <a:ea typeface="Alegreya"/>
                <a:cs typeface="Alegreya"/>
                <a:sym typeface="Alegreya"/>
              </a:endParaRPr>
            </a:p>
          </p:txBody>
        </p:sp>
      </p:grpSp>
      <p:sp>
        <p:nvSpPr>
          <p:cNvPr id="105" name="Google Shape;105;p3"/>
          <p:cNvSpPr txBox="1"/>
          <p:nvPr/>
        </p:nvSpPr>
        <p:spPr>
          <a:xfrm>
            <a:off x="3918390" y="232727"/>
            <a:ext cx="10451219" cy="1420496"/>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US" sz="8199" u="none" cap="none" strike="noStrike">
                <a:solidFill>
                  <a:srgbClr val="000000"/>
                </a:solidFill>
                <a:latin typeface="Arial"/>
                <a:ea typeface="Arial"/>
                <a:cs typeface="Arial"/>
                <a:sym typeface="Arial"/>
              </a:rPr>
              <a:t>SPIRAL MODEL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203" l="-220" r="-1696" t="-9510"/>
            </a:stretch>
          </a:blipFill>
          <a:ln>
            <a:noFill/>
          </a:ln>
        </p:spPr>
      </p:sp>
      <p:sp>
        <p:nvSpPr>
          <p:cNvPr id="111" name="Google Shape;111;p4"/>
          <p:cNvSpPr/>
          <p:nvPr/>
        </p:nvSpPr>
        <p:spPr>
          <a:xfrm>
            <a:off x="2286000" y="0"/>
            <a:ext cx="13716000" cy="10287000"/>
          </a:xfrm>
          <a:custGeom>
            <a:rect b="b" l="l" r="r" t="t"/>
            <a:pathLst>
              <a:path extrusionOk="0" h="10287000" w="13716000">
                <a:moveTo>
                  <a:pt x="0" y="0"/>
                </a:moveTo>
                <a:lnTo>
                  <a:pt x="13716000" y="0"/>
                </a:lnTo>
                <a:lnTo>
                  <a:pt x="13716000" y="10287000"/>
                </a:lnTo>
                <a:lnTo>
                  <a:pt x="0" y="102870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203" l="-220" r="-1696" t="-9510"/>
            </a:stretch>
          </a:blipFill>
          <a:ln>
            <a:noFill/>
          </a:ln>
        </p:spPr>
      </p:sp>
      <p:sp>
        <p:nvSpPr>
          <p:cNvPr id="117" name="Google Shape;117;p5"/>
          <p:cNvSpPr txBox="1"/>
          <p:nvPr/>
        </p:nvSpPr>
        <p:spPr>
          <a:xfrm>
            <a:off x="3166825" y="857250"/>
            <a:ext cx="11954351" cy="13144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7500" u="none" cap="none" strike="noStrike">
                <a:solidFill>
                  <a:srgbClr val="000000"/>
                </a:solidFill>
                <a:latin typeface="Arial"/>
                <a:ea typeface="Arial"/>
                <a:cs typeface="Arial"/>
                <a:sym typeface="Arial"/>
              </a:rPr>
              <a:t>When to use Spiral Model</a:t>
            </a:r>
            <a:endParaRPr/>
          </a:p>
        </p:txBody>
      </p:sp>
      <p:sp>
        <p:nvSpPr>
          <p:cNvPr id="118" name="Google Shape;118;p5"/>
          <p:cNvSpPr txBox="1"/>
          <p:nvPr/>
        </p:nvSpPr>
        <p:spPr>
          <a:xfrm>
            <a:off x="1028700" y="3228480"/>
            <a:ext cx="16230600" cy="5613400"/>
          </a:xfrm>
          <a:prstGeom prst="rect">
            <a:avLst/>
          </a:prstGeom>
          <a:noFill/>
          <a:ln>
            <a:noFill/>
          </a:ln>
        </p:spPr>
        <p:txBody>
          <a:bodyPr anchorCtr="0" anchor="t" bIns="0" lIns="0" spcFirstLastPara="1" rIns="0" wrap="square" tIns="0">
            <a:spAutoFit/>
          </a:bodyPr>
          <a:lstStyle/>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Alegreya"/>
                <a:ea typeface="Alegreya"/>
                <a:cs typeface="Alegreya"/>
                <a:sym typeface="Alegreya"/>
              </a:rPr>
              <a:t>When risk factor is high in project then this model is perfect to use as more risk evolution is taken place here.</a:t>
            </a:r>
            <a:endParaRPr/>
          </a:p>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Alegreya"/>
                <a:ea typeface="Alegreya"/>
                <a:cs typeface="Alegreya"/>
                <a:sym typeface="Alegreya"/>
              </a:rPr>
              <a:t>When significant changes and analysis will be required in project then this model is the perfect choice of software development model.</a:t>
            </a:r>
            <a:endParaRPr/>
          </a:p>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Alegreya"/>
                <a:ea typeface="Alegreya"/>
                <a:cs typeface="Alegreya"/>
                <a:sym typeface="Alegreya"/>
              </a:rPr>
              <a:t>Requirements are not easy and client is not sure for their needs at that time this model can be used.</a:t>
            </a:r>
            <a:endParaRPr/>
          </a:p>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Alegreya"/>
                <a:ea typeface="Alegreya"/>
                <a:cs typeface="Alegreya"/>
                <a:sym typeface="Alegreya"/>
              </a:rPr>
              <a:t>If project commitment was done for long time then it would be fine to select this model as product development model.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203" l="-220" r="-1696" t="-9510"/>
            </a:stretch>
          </a:blipFill>
          <a:ln>
            <a:noFill/>
          </a:ln>
        </p:spPr>
      </p:sp>
      <p:sp>
        <p:nvSpPr>
          <p:cNvPr id="124" name="Google Shape;124;p6"/>
          <p:cNvSpPr txBox="1"/>
          <p:nvPr/>
        </p:nvSpPr>
        <p:spPr>
          <a:xfrm>
            <a:off x="3166825" y="857250"/>
            <a:ext cx="11954351" cy="13144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7500" u="none" cap="none" strike="noStrike">
                <a:solidFill>
                  <a:srgbClr val="000000"/>
                </a:solidFill>
                <a:latin typeface="Arial"/>
                <a:ea typeface="Arial"/>
                <a:cs typeface="Arial"/>
                <a:sym typeface="Arial"/>
              </a:rPr>
              <a:t>Advantages of Spiral Model</a:t>
            </a:r>
            <a:endParaRPr/>
          </a:p>
        </p:txBody>
      </p:sp>
      <p:sp>
        <p:nvSpPr>
          <p:cNvPr id="125" name="Google Shape;125;p6"/>
          <p:cNvSpPr txBox="1"/>
          <p:nvPr/>
        </p:nvSpPr>
        <p:spPr>
          <a:xfrm>
            <a:off x="1028700" y="3228480"/>
            <a:ext cx="16230600" cy="4203700"/>
          </a:xfrm>
          <a:prstGeom prst="rect">
            <a:avLst/>
          </a:prstGeom>
          <a:noFill/>
          <a:ln>
            <a:noFill/>
          </a:ln>
        </p:spPr>
        <p:txBody>
          <a:bodyPr anchorCtr="0" anchor="t" bIns="0" lIns="0" spcFirstLastPara="1" rIns="0" wrap="square" tIns="0">
            <a:spAutoFit/>
          </a:bodyPr>
          <a:lstStyle/>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Alegreya"/>
                <a:ea typeface="Alegreya"/>
                <a:cs typeface="Alegreya"/>
                <a:sym typeface="Alegreya"/>
              </a:rPr>
              <a:t>Risk can be handled and different strategy can be applied here to develop a good product.</a:t>
            </a:r>
            <a:endParaRPr/>
          </a:p>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Alegreya"/>
                <a:ea typeface="Alegreya"/>
                <a:cs typeface="Alegreya"/>
                <a:sym typeface="Alegreya"/>
              </a:rPr>
              <a:t>Documentation needs to be perfect here &amp; good for Log term Project.</a:t>
            </a:r>
            <a:endParaRPr/>
          </a:p>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Alegreya"/>
                <a:ea typeface="Alegreya"/>
                <a:cs typeface="Alegreya"/>
                <a:sym typeface="Alegreya"/>
              </a:rPr>
              <a:t>Updates and changes can be implemented in middle of the development and software can be identified in the early stage of life cycle.</a:t>
            </a:r>
            <a:endParaRPr/>
          </a:p>
          <a:p>
            <a:pPr indent="0" lvl="0" marL="0" marR="0" rtl="0" algn="l">
              <a:lnSpc>
                <a:spcPct val="140010"/>
              </a:lnSpc>
              <a:spcBef>
                <a:spcPts val="0"/>
              </a:spcBef>
              <a:spcAft>
                <a:spcPts val="0"/>
              </a:spcAft>
              <a:buNone/>
            </a:pPr>
            <a:r>
              <a:t/>
            </a:r>
            <a:endParaRPr b="1" i="0" sz="3999" u="none" cap="none" strike="noStrike">
              <a:solidFill>
                <a:srgbClr val="000000"/>
              </a:solidFill>
              <a:latin typeface="Alegreya"/>
              <a:ea typeface="Alegreya"/>
              <a:cs typeface="Alegreya"/>
              <a:sym typeface="Alegrey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203" l="-220" r="-1696" t="-9510"/>
            </a:stretch>
          </a:blipFill>
          <a:ln>
            <a:noFill/>
          </a:ln>
        </p:spPr>
      </p:sp>
      <p:sp>
        <p:nvSpPr>
          <p:cNvPr id="131" name="Google Shape;131;p7"/>
          <p:cNvSpPr txBox="1"/>
          <p:nvPr/>
        </p:nvSpPr>
        <p:spPr>
          <a:xfrm>
            <a:off x="2591407" y="857250"/>
            <a:ext cx="13105186" cy="13144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7500" u="none" cap="none" strike="noStrike">
                <a:solidFill>
                  <a:srgbClr val="000000"/>
                </a:solidFill>
                <a:latin typeface="Arial"/>
                <a:ea typeface="Arial"/>
                <a:cs typeface="Arial"/>
                <a:sym typeface="Arial"/>
              </a:rPr>
              <a:t>Disadvantages of Spiral Model</a:t>
            </a:r>
            <a:endParaRPr/>
          </a:p>
        </p:txBody>
      </p:sp>
      <p:sp>
        <p:nvSpPr>
          <p:cNvPr id="132" name="Google Shape;132;p7"/>
          <p:cNvSpPr txBox="1"/>
          <p:nvPr/>
        </p:nvSpPr>
        <p:spPr>
          <a:xfrm>
            <a:off x="1028700" y="3204993"/>
            <a:ext cx="16230600" cy="4203700"/>
          </a:xfrm>
          <a:prstGeom prst="rect">
            <a:avLst/>
          </a:prstGeom>
          <a:noFill/>
          <a:ln>
            <a:noFill/>
          </a:ln>
        </p:spPr>
        <p:txBody>
          <a:bodyPr anchorCtr="0" anchor="t" bIns="0" lIns="0" spcFirstLastPara="1" rIns="0" wrap="square" tIns="0">
            <a:spAutoFit/>
          </a:bodyPr>
          <a:lstStyle/>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Alegreya"/>
                <a:ea typeface="Alegreya"/>
                <a:cs typeface="Alegreya"/>
                <a:sym typeface="Alegreya"/>
              </a:rPr>
              <a:t>If risk will not be identified then project can be leads to failure.</a:t>
            </a:r>
            <a:endParaRPr/>
          </a:p>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Alegreya"/>
                <a:ea typeface="Alegreya"/>
                <a:cs typeface="Alegreya"/>
                <a:sym typeface="Alegreya"/>
              </a:rPr>
              <a:t>High cost is required here.</a:t>
            </a:r>
            <a:endParaRPr/>
          </a:p>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Alegreya"/>
                <a:ea typeface="Alegreya"/>
                <a:cs typeface="Alegreya"/>
                <a:sym typeface="Alegreya"/>
              </a:rPr>
              <a:t>Experience person is required here to resolve the risk so we can’t assign a project to fresher resource.</a:t>
            </a:r>
            <a:endParaRPr/>
          </a:p>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Alegreya"/>
                <a:ea typeface="Alegreya"/>
                <a:cs typeface="Alegreya"/>
                <a:sym typeface="Alegreya"/>
              </a:rPr>
              <a:t>Can’t implement this mode to small projects.</a:t>
            </a:r>
            <a:endParaRPr/>
          </a:p>
          <a:p>
            <a:pPr indent="0" lvl="0" marL="0" marR="0" rtl="0" algn="l">
              <a:lnSpc>
                <a:spcPct val="140010"/>
              </a:lnSpc>
              <a:spcBef>
                <a:spcPts val="0"/>
              </a:spcBef>
              <a:spcAft>
                <a:spcPts val="0"/>
              </a:spcAft>
              <a:buNone/>
            </a:pPr>
            <a:r>
              <a:t/>
            </a:r>
            <a:endParaRPr b="1" i="0" sz="3999" u="none" cap="none" strike="noStrike">
              <a:solidFill>
                <a:srgbClr val="000000"/>
              </a:solidFill>
              <a:latin typeface="Alegreya"/>
              <a:ea typeface="Alegreya"/>
              <a:cs typeface="Alegreya"/>
              <a:sym typeface="Alegrey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203" l="-220" r="-1696" t="-9510"/>
            </a:stretch>
          </a:blipFill>
          <a:ln>
            <a:noFill/>
          </a:ln>
        </p:spPr>
      </p:sp>
      <p:sp>
        <p:nvSpPr>
          <p:cNvPr id="138" name="Google Shape;138;p8"/>
          <p:cNvSpPr txBox="1"/>
          <p:nvPr/>
        </p:nvSpPr>
        <p:spPr>
          <a:xfrm>
            <a:off x="2691138" y="3358912"/>
            <a:ext cx="12905700" cy="3561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9641" u="none" cap="none" strike="noStrike">
                <a:solidFill>
                  <a:srgbClr val="000000"/>
                </a:solidFill>
                <a:latin typeface="Arial"/>
                <a:ea typeface="Arial"/>
                <a:cs typeface="Arial"/>
                <a:sym typeface="Arial"/>
              </a:rPr>
              <a:t>Does Anyone Have </a:t>
            </a:r>
            <a:r>
              <a:rPr lang="en-US" sz="9641"/>
              <a:t>A</a:t>
            </a:r>
            <a:r>
              <a:rPr b="0" i="0" lang="en-US" sz="9641" u="none" cap="none" strike="noStrike">
                <a:solidFill>
                  <a:srgbClr val="000000"/>
                </a:solidFill>
                <a:latin typeface="Arial"/>
                <a:ea typeface="Arial"/>
                <a:cs typeface="Arial"/>
                <a:sym typeface="Arial"/>
              </a:rPr>
              <a:t>ny Questions?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203" l="-220" r="-1696" t="-9510"/>
            </a:stretch>
          </a:blipFill>
          <a:ln>
            <a:noFill/>
          </a:ln>
        </p:spPr>
      </p:sp>
      <p:sp>
        <p:nvSpPr>
          <p:cNvPr id="144" name="Google Shape;144;p9"/>
          <p:cNvSpPr txBox="1"/>
          <p:nvPr/>
        </p:nvSpPr>
        <p:spPr>
          <a:xfrm>
            <a:off x="2616729" y="3509275"/>
            <a:ext cx="13054542" cy="29065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16721" u="none" cap="none" strike="noStrike">
                <a:solidFill>
                  <a:srgbClr val="000000"/>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