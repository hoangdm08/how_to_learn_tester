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Prata" panose="00000500000000000000"/>
      <p:regular r:id="rId15"/>
    </p:embeddedFont>
    <p:embeddedFont>
      <p:font typeface="Raleway" panose="020B0503030101060003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40726" y="2366746"/>
            <a:ext cx="12734892" cy="395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60"/>
              </a:lnSpc>
            </a:pPr>
            <a:r>
              <a:rPr lang="en-US" sz="114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SEVEN TESTING PRINCIPLES</a:t>
            </a:r>
            <a:endParaRPr lang="en-US" sz="114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6187109" y="9510857"/>
            <a:ext cx="591378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44E41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rPr>
              <a:t>TEAM 1</a:t>
            </a:r>
            <a:endParaRPr lang="en-US" sz="2400">
              <a:solidFill>
                <a:srgbClr val="344E41"/>
              </a:solidFill>
              <a:latin typeface="Raleway" panose="020B0503030101060003"/>
              <a:ea typeface="Raleway" panose="020B0503030101060003"/>
              <a:cs typeface="Raleway" panose="020B0503030101060003"/>
              <a:sym typeface="Raleway" panose="020B05030301010600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476562" y="5143500"/>
            <a:ext cx="5199056" cy="5199056"/>
          </a:xfrm>
          <a:custGeom>
            <a:avLst/>
            <a:gdLst/>
            <a:ahLst/>
            <a:cxnLst/>
            <a:rect l="l" t="t" r="r" b="b"/>
            <a:pathLst>
              <a:path w="5199056" h="5199056">
                <a:moveTo>
                  <a:pt x="0" y="0"/>
                </a:moveTo>
                <a:lnTo>
                  <a:pt x="5199056" y="0"/>
                </a:lnTo>
                <a:lnTo>
                  <a:pt x="5199056" y="5199056"/>
                </a:lnTo>
                <a:lnTo>
                  <a:pt x="0" y="51990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6580" y="4887302"/>
            <a:ext cx="5399698" cy="5399698"/>
          </a:xfrm>
          <a:custGeom>
            <a:avLst/>
            <a:gdLst/>
            <a:ahLst/>
            <a:cxnLst/>
            <a:rect l="l" t="t" r="r" b="b"/>
            <a:pathLst>
              <a:path w="5399698" h="5399698">
                <a:moveTo>
                  <a:pt x="0" y="0"/>
                </a:moveTo>
                <a:lnTo>
                  <a:pt x="5399698" y="0"/>
                </a:lnTo>
                <a:lnTo>
                  <a:pt x="5399698" y="5399698"/>
                </a:lnTo>
                <a:lnTo>
                  <a:pt x="0" y="5399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1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40715" y="3218522"/>
            <a:ext cx="11687676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TESTING SHOWS THE PRESENCE OF DEFECTS, NOT THEIR ABSENCE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821218" y="5087944"/>
            <a:ext cx="5199056" cy="5199056"/>
          </a:xfrm>
          <a:custGeom>
            <a:avLst/>
            <a:gdLst/>
            <a:ahLst/>
            <a:cxnLst/>
            <a:rect l="l" t="t" r="r" b="b"/>
            <a:pathLst>
              <a:path w="5199056" h="5199056">
                <a:moveTo>
                  <a:pt x="0" y="0"/>
                </a:moveTo>
                <a:lnTo>
                  <a:pt x="5199056" y="0"/>
                </a:lnTo>
                <a:lnTo>
                  <a:pt x="5199056" y="5199056"/>
                </a:lnTo>
                <a:lnTo>
                  <a:pt x="0" y="51990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2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071972" y="3220107"/>
            <a:ext cx="1274456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EXHAUSTIVE TESTING IS IMPOSSIBLE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96257" y="4888887"/>
            <a:ext cx="9371747" cy="5254923"/>
          </a:xfrm>
          <a:custGeom>
            <a:avLst/>
            <a:gdLst/>
            <a:ahLst/>
            <a:cxnLst/>
            <a:rect l="l" t="t" r="r" b="b"/>
            <a:pathLst>
              <a:path w="9371747" h="5254923">
                <a:moveTo>
                  <a:pt x="0" y="0"/>
                </a:moveTo>
                <a:lnTo>
                  <a:pt x="9371747" y="0"/>
                </a:lnTo>
                <a:lnTo>
                  <a:pt x="9371747" y="5254923"/>
                </a:lnTo>
                <a:lnTo>
                  <a:pt x="0" y="5254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3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4707198" y="4141483"/>
            <a:ext cx="9672142" cy="5446026"/>
          </a:xfrm>
          <a:custGeom>
            <a:avLst/>
            <a:gdLst/>
            <a:ahLst/>
            <a:cxnLst/>
            <a:rect l="l" t="t" r="r" b="b"/>
            <a:pathLst>
              <a:path w="9672142" h="5446026">
                <a:moveTo>
                  <a:pt x="0" y="0"/>
                </a:moveTo>
                <a:lnTo>
                  <a:pt x="9672142" y="0"/>
                </a:lnTo>
                <a:lnTo>
                  <a:pt x="9672142" y="5446026"/>
                </a:lnTo>
                <a:lnTo>
                  <a:pt x="0" y="544602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84811" y="3320428"/>
            <a:ext cx="1377796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EARLY TESTING SAVES TIME AND MONEY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4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524000" y="4838700"/>
            <a:ext cx="7616190" cy="4276725"/>
          </a:xfrm>
          <a:custGeom>
            <a:avLst/>
            <a:gdLst/>
            <a:ahLst/>
            <a:cxnLst/>
            <a:rect l="l" t="t" r="r" b="b"/>
            <a:pathLst>
              <a:path w="10854475" h="6095456">
                <a:moveTo>
                  <a:pt x="0" y="0"/>
                </a:moveTo>
                <a:lnTo>
                  <a:pt x="10854474" y="0"/>
                </a:lnTo>
                <a:lnTo>
                  <a:pt x="10854474" y="6095456"/>
                </a:lnTo>
                <a:lnTo>
                  <a:pt x="0" y="60954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46039" y="3320428"/>
            <a:ext cx="1039592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DEFECTS CLUSTER TOGETHER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800" y="5067300"/>
            <a:ext cx="552450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5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2667000" y="5295900"/>
            <a:ext cx="6844665" cy="3912870"/>
          </a:xfrm>
          <a:custGeom>
            <a:avLst/>
            <a:gdLst/>
            <a:ahLst/>
            <a:cxnLst/>
            <a:rect l="l" t="t" r="r" b="b"/>
            <a:pathLst>
              <a:path w="10208237" h="5732553">
                <a:moveTo>
                  <a:pt x="0" y="0"/>
                </a:moveTo>
                <a:lnTo>
                  <a:pt x="10208236" y="0"/>
                </a:lnTo>
                <a:lnTo>
                  <a:pt x="10208236" y="5732553"/>
                </a:lnTo>
                <a:lnTo>
                  <a:pt x="0" y="573255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37107" y="3219042"/>
            <a:ext cx="1283851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BEWARE OF THE PESTICIDE PARADOX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5067300"/>
            <a:ext cx="5148580" cy="3925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6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2362376" y="4381311"/>
            <a:ext cx="7191659" cy="4794439"/>
          </a:xfrm>
          <a:custGeom>
            <a:avLst/>
            <a:gdLst/>
            <a:ahLst/>
            <a:cxnLst/>
            <a:rect l="l" t="t" r="r" b="b"/>
            <a:pathLst>
              <a:path w="7191659" h="4794439">
                <a:moveTo>
                  <a:pt x="0" y="0"/>
                </a:moveTo>
                <a:lnTo>
                  <a:pt x="7191658" y="0"/>
                </a:lnTo>
                <a:lnTo>
                  <a:pt x="7191658" y="4794439"/>
                </a:lnTo>
                <a:lnTo>
                  <a:pt x="0" y="479443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88419" y="3193469"/>
            <a:ext cx="1171116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TESTING IS CONTEXT-DEPENDENT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175885"/>
            <a:ext cx="569849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8119996" y="359323"/>
            <a:ext cx="2048008" cy="2109894"/>
            <a:chOff x="0" y="0"/>
            <a:chExt cx="968254" cy="9975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8254" cy="997513"/>
            </a:xfrm>
            <a:custGeom>
              <a:avLst/>
              <a:gdLst/>
              <a:ahLst/>
              <a:cxnLst/>
              <a:rect l="l" t="t" r="r" b="b"/>
              <a:pathLst>
                <a:path w="968254" h="997513">
                  <a:moveTo>
                    <a:pt x="484127" y="0"/>
                  </a:moveTo>
                  <a:cubicBezTo>
                    <a:pt x="216751" y="0"/>
                    <a:pt x="0" y="223301"/>
                    <a:pt x="0" y="498756"/>
                  </a:cubicBezTo>
                  <a:cubicBezTo>
                    <a:pt x="0" y="774212"/>
                    <a:pt x="216751" y="997513"/>
                    <a:pt x="484127" y="997513"/>
                  </a:cubicBezTo>
                  <a:cubicBezTo>
                    <a:pt x="751503" y="997513"/>
                    <a:pt x="968254" y="774212"/>
                    <a:pt x="968254" y="498756"/>
                  </a:cubicBezTo>
                  <a:cubicBezTo>
                    <a:pt x="968254" y="223301"/>
                    <a:pt x="751503" y="0"/>
                    <a:pt x="484127" y="0"/>
                  </a:cubicBezTo>
                  <a:close/>
                </a:path>
              </a:pathLst>
            </a:custGeom>
            <a:solidFill>
              <a:srgbClr val="A3B18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90774" y="-58883"/>
              <a:ext cx="786707" cy="9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200"/>
                </a:lnSpc>
              </a:pPr>
              <a:r>
                <a:rPr lang="en-US" sz="8000">
                  <a:solidFill>
                    <a:srgbClr val="000000"/>
                  </a:solidFill>
                  <a:latin typeface="Balabeloo" panose="00000500000000000000"/>
                  <a:ea typeface="Balabeloo" panose="00000500000000000000"/>
                  <a:cs typeface="Balabeloo" panose="00000500000000000000"/>
                  <a:sym typeface="Balabeloo" panose="00000500000000000000"/>
                </a:rPr>
                <a:t>7</a:t>
              </a:r>
              <a:endParaRPr lang="en-US" sz="8000">
                <a:solidFill>
                  <a:srgbClr val="000000"/>
                </a:solidFill>
                <a:latin typeface="Balabeloo" panose="00000500000000000000"/>
                <a:ea typeface="Balabeloo" panose="00000500000000000000"/>
                <a:cs typeface="Balabeloo" panose="00000500000000000000"/>
                <a:sym typeface="Balabeloo" panose="0000050000000000000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4572000" y="4000500"/>
            <a:ext cx="9289415" cy="5216525"/>
          </a:xfrm>
          <a:custGeom>
            <a:avLst/>
            <a:gdLst/>
            <a:ahLst/>
            <a:cxnLst/>
            <a:rect l="l" t="t" r="r" b="b"/>
            <a:pathLst>
              <a:path w="10854475" h="6095456">
                <a:moveTo>
                  <a:pt x="0" y="0"/>
                </a:moveTo>
                <a:lnTo>
                  <a:pt x="10854474" y="0"/>
                </a:lnTo>
                <a:lnTo>
                  <a:pt x="10854474" y="6095456"/>
                </a:lnTo>
                <a:lnTo>
                  <a:pt x="0" y="609545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88419" y="3193469"/>
            <a:ext cx="11711162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ABSENCE-OF-ERRORS IS A FALLACY</a:t>
            </a:r>
            <a:endParaRPr lang="en-US" sz="48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D7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6554" y="3669329"/>
            <a:ext cx="12734892" cy="371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20"/>
              </a:lnSpc>
            </a:pPr>
            <a:r>
              <a:rPr lang="en-US" sz="11400">
                <a:solidFill>
                  <a:srgbClr val="344E41"/>
                </a:solidFill>
                <a:latin typeface="Prata" panose="00000500000000000000"/>
                <a:ea typeface="Prata" panose="00000500000000000000"/>
                <a:cs typeface="Prata" panose="00000500000000000000"/>
                <a:sym typeface="Prata" panose="00000500000000000000"/>
              </a:rPr>
              <a:t>THANK YOU FOR LISTENING</a:t>
            </a:r>
            <a:endParaRPr lang="en-US" sz="11400">
              <a:solidFill>
                <a:srgbClr val="344E41"/>
              </a:solidFill>
              <a:latin typeface="Prata" panose="00000500000000000000"/>
              <a:ea typeface="Prata" panose="00000500000000000000"/>
              <a:cs typeface="Prata" panose="00000500000000000000"/>
              <a:sym typeface="Prata" panose="0000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372622" cy="695960"/>
            </a:xfrm>
            <a:custGeom>
              <a:avLst/>
              <a:gdLst/>
              <a:ahLst/>
              <a:cxnLst/>
              <a:rect l="l" t="t" r="r" b="b"/>
              <a:pathLst>
                <a:path w="12372622" h="695960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776554" y="2399939"/>
            <a:ext cx="12734892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44E41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rPr>
              <a:t>THE END</a:t>
            </a:r>
            <a:endParaRPr lang="en-US" sz="5000">
              <a:solidFill>
                <a:srgbClr val="344E41"/>
              </a:solidFill>
              <a:latin typeface="Raleway" panose="020B0503030101060003"/>
              <a:ea typeface="Raleway" panose="020B0503030101060003"/>
              <a:cs typeface="Raleway" panose="020B0503030101060003"/>
              <a:sym typeface="Raleway" panose="020B05030301010600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WPS Presentation</Application>
  <PresentationFormat>On-screen Show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Prata</vt:lpstr>
      <vt:lpstr>Raleway</vt:lpstr>
      <vt:lpstr>Balabeloo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 Testing Principles</dc:title>
  <dc:creator/>
  <cp:lastModifiedBy>ADMIN</cp:lastModifiedBy>
  <cp:revision>5</cp:revision>
  <dcterms:created xsi:type="dcterms:W3CDTF">2006-08-16T00:00:00Z</dcterms:created>
  <dcterms:modified xsi:type="dcterms:W3CDTF">2026-03-12T07:03:18Z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7133D23F51154484BAF50DD9B97B37BA_12</vt:lpwstr>
  </property>
  <property fmtid="{D5CDD505-2E9C-101B-9397-08002B2CF9AE}" pid="3" name="KSOProductBuildVer">
    <vt:lpwstr>1033-12.1.0.25180</vt:lpwstr>
  </property>
</Properties>
</file>